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8"/>
  </p:notesMasterIdLst>
  <p:sldIdLst>
    <p:sldId id="256" r:id="rId2"/>
    <p:sldId id="257" r:id="rId3"/>
    <p:sldId id="259" r:id="rId4"/>
    <p:sldId id="258" r:id="rId5"/>
    <p:sldId id="263" r:id="rId6"/>
    <p:sldId id="265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2" r:id="rId18"/>
    <p:sldId id="281" r:id="rId19"/>
    <p:sldId id="261" r:id="rId20"/>
    <p:sldId id="262" r:id="rId21"/>
    <p:sldId id="280" r:id="rId22"/>
    <p:sldId id="266" r:id="rId23"/>
    <p:sldId id="269" r:id="rId24"/>
    <p:sldId id="267" r:id="rId25"/>
    <p:sldId id="283" r:id="rId26"/>
    <p:sldId id="26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1B1F2-1621-B7B8-4D8B-DF3831FAFE11}" v="5" dt="2025-05-07T21:01:44.718"/>
    <p1510:client id="{35C16D25-38E2-20A6-806C-D45A1D7FDDDA}" v="23" dt="2025-05-08T03:35:42.087"/>
    <p1510:client id="{384B7D63-2911-34BF-DFB3-9BA5F8E5B400}" v="46" dt="2025-05-08T03:16:38.965"/>
    <p1510:client id="{62BD2552-5F02-B248-B04D-E8D995EBCFBA}" v="1000" dt="2025-05-08T13:40:10.341"/>
    <p1510:client id="{7C378308-7FA0-E71E-6ED6-1C636D392AC1}" v="711" dt="2025-05-08T06:56:28.729"/>
    <p1510:client id="{7D7799FC-6384-EA6D-329D-A15FA63E7810}" v="554" dt="2025-05-08T01:44:30.429"/>
    <p1510:client id="{9827305B-130A-F92C-D61A-C6D6C4DC38AA}" v="1117" dt="2025-05-08T12:06:52.453"/>
    <p1510:client id="{9AB29949-2B47-BBFC-B715-4455B1AF59CC}" v="1635" dt="2025-05-08T10:45:30.320"/>
    <p1510:client id="{AC13A454-3F83-CEF1-8F5B-8E624DB3716D}" v="9" dt="2025-05-08T13:25:53.034"/>
    <p1510:client id="{AF8423C3-DA62-92A6-CCBB-A3008FA19B05}" v="6" dt="2025-05-07T20:58:57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87"/>
  </p:normalViewPr>
  <p:slideViewPr>
    <p:cSldViewPr snapToGrid="0">
      <p:cViewPr varScale="1">
        <p:scale>
          <a:sx n="104" d="100"/>
          <a:sy n="104" d="100"/>
        </p:scale>
        <p:origin x="5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DEFCF4-06B5-4CFF-A9C8-E980923494A2}" type="doc">
      <dgm:prSet loTypeId="urn:microsoft.com/office/officeart/2005/8/layout/hChevron3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7F818FC-63A5-48E0-84D3-58C115DFDB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project explores how different </a:t>
          </a:r>
          <a:r>
            <a:rPr lang="en-US" b="1"/>
            <a:t>workout routines, member demographics, and fitness habits</a:t>
          </a:r>
          <a:r>
            <a:rPr lang="en-US"/>
            <a:t> influence health outcomes like </a:t>
          </a:r>
          <a:r>
            <a:rPr lang="en-US" b="1"/>
            <a:t>BMI</a:t>
          </a:r>
          <a:r>
            <a:rPr lang="en-US"/>
            <a:t>, </a:t>
          </a:r>
          <a:r>
            <a:rPr lang="en-US" b="1"/>
            <a:t>fat percentage</a:t>
          </a:r>
          <a:r>
            <a:rPr lang="en-US"/>
            <a:t>, and </a:t>
          </a:r>
          <a:r>
            <a:rPr lang="en-US" b="1"/>
            <a:t>resting heart rate</a:t>
          </a:r>
          <a:r>
            <a:rPr lang="en-US"/>
            <a:t>.</a:t>
          </a:r>
        </a:p>
      </dgm:t>
    </dgm:pt>
    <dgm:pt modelId="{97E1956E-4949-467A-A2EE-ABC773D208A3}" type="parTrans" cxnId="{289500EE-9991-46B8-804F-069FE957E627}">
      <dgm:prSet/>
      <dgm:spPr/>
      <dgm:t>
        <a:bodyPr/>
        <a:lstStyle/>
        <a:p>
          <a:endParaRPr lang="en-US"/>
        </a:p>
      </dgm:t>
    </dgm:pt>
    <dgm:pt modelId="{65C0635D-7412-4C47-8974-1C1D452D1FC1}" type="sibTrans" cxnId="{289500EE-9991-46B8-804F-069FE957E627}">
      <dgm:prSet/>
      <dgm:spPr/>
      <dgm:t>
        <a:bodyPr/>
        <a:lstStyle/>
        <a:p>
          <a:endParaRPr lang="en-US"/>
        </a:p>
      </dgm:t>
    </dgm:pt>
    <dgm:pt modelId="{4B2CDDAA-BECE-4510-A789-6C4E027916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these relationships can help:</a:t>
          </a:r>
        </a:p>
      </dgm:t>
    </dgm:pt>
    <dgm:pt modelId="{BCDC82B6-DF92-4280-ACDF-0ED3EE45C302}" type="parTrans" cxnId="{0C5DEC2C-5571-452C-B894-2066D2D14C64}">
      <dgm:prSet/>
      <dgm:spPr/>
      <dgm:t>
        <a:bodyPr/>
        <a:lstStyle/>
        <a:p>
          <a:endParaRPr lang="en-US"/>
        </a:p>
      </dgm:t>
    </dgm:pt>
    <dgm:pt modelId="{31E47948-7BD8-41B0-BD55-CEDF7E476375}" type="sibTrans" cxnId="{0C5DEC2C-5571-452C-B894-2066D2D14C64}">
      <dgm:prSet/>
      <dgm:spPr/>
      <dgm:t>
        <a:bodyPr/>
        <a:lstStyle/>
        <a:p>
          <a:endParaRPr lang="en-US"/>
        </a:p>
      </dgm:t>
    </dgm:pt>
    <dgm:pt modelId="{29C079DA-69B9-4267-8E29-ACC2E0D0F5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Personalize fitness plans</a:t>
          </a:r>
        </a:p>
      </dgm:t>
    </dgm:pt>
    <dgm:pt modelId="{A87095B7-A3DD-4837-B4F8-A8CC8F2EDB8C}" type="parTrans" cxnId="{90D072DC-B887-4C7D-B24F-F7716F1E5671}">
      <dgm:prSet/>
      <dgm:spPr/>
      <dgm:t>
        <a:bodyPr/>
        <a:lstStyle/>
        <a:p>
          <a:endParaRPr lang="en-US"/>
        </a:p>
      </dgm:t>
    </dgm:pt>
    <dgm:pt modelId="{95932A80-1670-47D2-81B9-D6992A4FB7E8}" type="sibTrans" cxnId="{90D072DC-B887-4C7D-B24F-F7716F1E5671}">
      <dgm:prSet/>
      <dgm:spPr/>
      <dgm:t>
        <a:bodyPr/>
        <a:lstStyle/>
        <a:p>
          <a:endParaRPr lang="en-US"/>
        </a:p>
      </dgm:t>
    </dgm:pt>
    <dgm:pt modelId="{5F967D61-7A00-4340-B287-FC650B7C26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 training outcomes</a:t>
          </a:r>
        </a:p>
      </dgm:t>
    </dgm:pt>
    <dgm:pt modelId="{16A9ACAA-E97F-4C86-84C6-A6B9790452B6}" type="parTrans" cxnId="{4A6CDA73-89F7-4F08-B629-5492142F97B9}">
      <dgm:prSet/>
      <dgm:spPr/>
      <dgm:t>
        <a:bodyPr/>
        <a:lstStyle/>
        <a:p>
          <a:endParaRPr lang="en-US"/>
        </a:p>
      </dgm:t>
    </dgm:pt>
    <dgm:pt modelId="{DE7062D9-F640-4B73-B688-5E0203D234AF}" type="sibTrans" cxnId="{4A6CDA73-89F7-4F08-B629-5492142F97B9}">
      <dgm:prSet/>
      <dgm:spPr/>
      <dgm:t>
        <a:bodyPr/>
        <a:lstStyle/>
        <a:p>
          <a:endParaRPr lang="en-US"/>
        </a:p>
      </dgm:t>
    </dgm:pt>
    <dgm:pt modelId="{6C7DBB18-632D-4483-A967-B3CE4A6265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health risks through targeted workouts</a:t>
          </a:r>
        </a:p>
      </dgm:t>
    </dgm:pt>
    <dgm:pt modelId="{19A627CE-1DB9-436B-AFC6-D681D2F1E014}" type="parTrans" cxnId="{55838502-85BF-4313-9F0F-FDF86720FD49}">
      <dgm:prSet/>
      <dgm:spPr/>
      <dgm:t>
        <a:bodyPr/>
        <a:lstStyle/>
        <a:p>
          <a:endParaRPr lang="en-US"/>
        </a:p>
      </dgm:t>
    </dgm:pt>
    <dgm:pt modelId="{93471CF7-6E21-4BB9-B71C-DC43BD5B6430}" type="sibTrans" cxnId="{55838502-85BF-4313-9F0F-FDF86720FD49}">
      <dgm:prSet/>
      <dgm:spPr/>
      <dgm:t>
        <a:bodyPr/>
        <a:lstStyle/>
        <a:p>
          <a:endParaRPr lang="en-US"/>
        </a:p>
      </dgm:t>
    </dgm:pt>
    <dgm:pt modelId="{030E7621-0105-4BC6-8F77-C0749A4C59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Goal:</a:t>
          </a:r>
          <a:r>
            <a:rPr lang="en-US"/>
            <a:t> Use data to uncover trends and recommend more effective workout strategies for diverse gym members.</a:t>
          </a:r>
        </a:p>
      </dgm:t>
    </dgm:pt>
    <dgm:pt modelId="{4F145F47-F328-4364-A769-AD847C5CB57D}" type="parTrans" cxnId="{855F2DC5-F1FB-4E35-A378-0241EA21C8FC}">
      <dgm:prSet/>
      <dgm:spPr/>
      <dgm:t>
        <a:bodyPr/>
        <a:lstStyle/>
        <a:p>
          <a:endParaRPr lang="en-US"/>
        </a:p>
      </dgm:t>
    </dgm:pt>
    <dgm:pt modelId="{517659CA-65A2-4E47-8DDF-6303A2576FF9}" type="sibTrans" cxnId="{855F2DC5-F1FB-4E35-A378-0241EA21C8FC}">
      <dgm:prSet/>
      <dgm:spPr/>
      <dgm:t>
        <a:bodyPr/>
        <a:lstStyle/>
        <a:p>
          <a:endParaRPr lang="en-US"/>
        </a:p>
      </dgm:t>
    </dgm:pt>
    <dgm:pt modelId="{B243AE5A-6C41-45E1-A086-B339150D6638}" type="pres">
      <dgm:prSet presAssocID="{35DEFCF4-06B5-4CFF-A9C8-E980923494A2}" presName="Name0" presStyleCnt="0">
        <dgm:presLayoutVars>
          <dgm:dir/>
          <dgm:resizeHandles val="exact"/>
        </dgm:presLayoutVars>
      </dgm:prSet>
      <dgm:spPr/>
    </dgm:pt>
    <dgm:pt modelId="{3B6847D0-D714-4D4D-BABD-CAB864134BB1}" type="pres">
      <dgm:prSet presAssocID="{67F818FC-63A5-48E0-84D3-58C115DFDB56}" presName="parAndChTx" presStyleLbl="node1" presStyleIdx="0" presStyleCnt="2">
        <dgm:presLayoutVars>
          <dgm:bulletEnabled val="1"/>
        </dgm:presLayoutVars>
      </dgm:prSet>
      <dgm:spPr/>
    </dgm:pt>
    <dgm:pt modelId="{884CB439-5A5E-4E62-B0C4-C13C2D2999F8}" type="pres">
      <dgm:prSet presAssocID="{65C0635D-7412-4C47-8974-1C1D452D1FC1}" presName="parAndChSpace" presStyleCnt="0"/>
      <dgm:spPr/>
    </dgm:pt>
    <dgm:pt modelId="{BFE61D6A-2447-48FD-ACA2-6E2F6F6E1CD2}" type="pres">
      <dgm:prSet presAssocID="{4B2CDDAA-BECE-4510-A789-6C4E0279169F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55838502-85BF-4313-9F0F-FDF86720FD49}" srcId="{4B2CDDAA-BECE-4510-A789-6C4E0279169F}" destId="{6C7DBB18-632D-4483-A967-B3CE4A626543}" srcOrd="2" destOrd="0" parTransId="{19A627CE-1DB9-436B-AFC6-D681D2F1E014}" sibTransId="{93471CF7-6E21-4BB9-B71C-DC43BD5B6430}"/>
    <dgm:cxn modelId="{0C5DEC2C-5571-452C-B894-2066D2D14C64}" srcId="{35DEFCF4-06B5-4CFF-A9C8-E980923494A2}" destId="{4B2CDDAA-BECE-4510-A789-6C4E0279169F}" srcOrd="1" destOrd="0" parTransId="{BCDC82B6-DF92-4280-ACDF-0ED3EE45C302}" sibTransId="{31E47948-7BD8-41B0-BD55-CEDF7E476375}"/>
    <dgm:cxn modelId="{C155686A-BD02-2944-A906-28310068374A}" type="presOf" srcId="{4B2CDDAA-BECE-4510-A789-6C4E0279169F}" destId="{BFE61D6A-2447-48FD-ACA2-6E2F6F6E1CD2}" srcOrd="0" destOrd="0" presId="urn:microsoft.com/office/officeart/2005/8/layout/hChevron3"/>
    <dgm:cxn modelId="{4A6CDA73-89F7-4F08-B629-5492142F97B9}" srcId="{4B2CDDAA-BECE-4510-A789-6C4E0279169F}" destId="{5F967D61-7A00-4340-B287-FC650B7C2689}" srcOrd="1" destOrd="0" parTransId="{16A9ACAA-E97F-4C86-84C6-A6B9790452B6}" sibTransId="{DE7062D9-F640-4B73-B688-5E0203D234AF}"/>
    <dgm:cxn modelId="{E2141895-21DA-1F4B-9C15-E1746C005934}" type="presOf" srcId="{35DEFCF4-06B5-4CFF-A9C8-E980923494A2}" destId="{B243AE5A-6C41-45E1-A086-B339150D6638}" srcOrd="0" destOrd="0" presId="urn:microsoft.com/office/officeart/2005/8/layout/hChevron3"/>
    <dgm:cxn modelId="{4CA8BC95-1620-AD4D-A0C7-F983F494E032}" type="presOf" srcId="{030E7621-0105-4BC6-8F77-C0749A4C5935}" destId="{BFE61D6A-2447-48FD-ACA2-6E2F6F6E1CD2}" srcOrd="0" destOrd="4" presId="urn:microsoft.com/office/officeart/2005/8/layout/hChevron3"/>
    <dgm:cxn modelId="{40A809B9-BE40-6F46-91B0-509608AF8D2B}" type="presOf" srcId="{29C079DA-69B9-4267-8E29-ACC2E0D0F52F}" destId="{BFE61D6A-2447-48FD-ACA2-6E2F6F6E1CD2}" srcOrd="0" destOrd="1" presId="urn:microsoft.com/office/officeart/2005/8/layout/hChevron3"/>
    <dgm:cxn modelId="{855F2DC5-F1FB-4E35-A378-0241EA21C8FC}" srcId="{4B2CDDAA-BECE-4510-A789-6C4E0279169F}" destId="{030E7621-0105-4BC6-8F77-C0749A4C5935}" srcOrd="3" destOrd="0" parTransId="{4F145F47-F328-4364-A769-AD847C5CB57D}" sibTransId="{517659CA-65A2-4E47-8DDF-6303A2576FF9}"/>
    <dgm:cxn modelId="{FE2471D7-F9BC-8D46-AA10-E6C8E5C0A918}" type="presOf" srcId="{67F818FC-63A5-48E0-84D3-58C115DFDB56}" destId="{3B6847D0-D714-4D4D-BABD-CAB864134BB1}" srcOrd="0" destOrd="0" presId="urn:microsoft.com/office/officeart/2005/8/layout/hChevron3"/>
    <dgm:cxn modelId="{90D072DC-B887-4C7D-B24F-F7716F1E5671}" srcId="{4B2CDDAA-BECE-4510-A789-6C4E0279169F}" destId="{29C079DA-69B9-4267-8E29-ACC2E0D0F52F}" srcOrd="0" destOrd="0" parTransId="{A87095B7-A3DD-4837-B4F8-A8CC8F2EDB8C}" sibTransId="{95932A80-1670-47D2-81B9-D6992A4FB7E8}"/>
    <dgm:cxn modelId="{289500EE-9991-46B8-804F-069FE957E627}" srcId="{35DEFCF4-06B5-4CFF-A9C8-E980923494A2}" destId="{67F818FC-63A5-48E0-84D3-58C115DFDB56}" srcOrd="0" destOrd="0" parTransId="{97E1956E-4949-467A-A2EE-ABC773D208A3}" sibTransId="{65C0635D-7412-4C47-8974-1C1D452D1FC1}"/>
    <dgm:cxn modelId="{A34616F4-E1A3-A143-A298-E7EC706721BE}" type="presOf" srcId="{5F967D61-7A00-4340-B287-FC650B7C2689}" destId="{BFE61D6A-2447-48FD-ACA2-6E2F6F6E1CD2}" srcOrd="0" destOrd="2" presId="urn:microsoft.com/office/officeart/2005/8/layout/hChevron3"/>
    <dgm:cxn modelId="{65BE75FD-538C-9349-A396-3F425080D75B}" type="presOf" srcId="{6C7DBB18-632D-4483-A967-B3CE4A626543}" destId="{BFE61D6A-2447-48FD-ACA2-6E2F6F6E1CD2}" srcOrd="0" destOrd="3" presId="urn:microsoft.com/office/officeart/2005/8/layout/hChevron3"/>
    <dgm:cxn modelId="{020F48FB-605D-5F47-8094-24D7FD45B7C5}" type="presParOf" srcId="{B243AE5A-6C41-45E1-A086-B339150D6638}" destId="{3B6847D0-D714-4D4D-BABD-CAB864134BB1}" srcOrd="0" destOrd="0" presId="urn:microsoft.com/office/officeart/2005/8/layout/hChevron3"/>
    <dgm:cxn modelId="{DE5E1FA8-C4DF-0B49-9DC8-D1B4A22B6F77}" type="presParOf" srcId="{B243AE5A-6C41-45E1-A086-B339150D6638}" destId="{884CB439-5A5E-4E62-B0C4-C13C2D2999F8}" srcOrd="1" destOrd="0" presId="urn:microsoft.com/office/officeart/2005/8/layout/hChevron3"/>
    <dgm:cxn modelId="{2B5EF80C-C7FA-9B49-8F98-CC986CDA134F}" type="presParOf" srcId="{B243AE5A-6C41-45E1-A086-B339150D6638}" destId="{BFE61D6A-2447-48FD-ACA2-6E2F6F6E1CD2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456514-0FB1-4262-B49D-381150FA31A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FFC319-523A-41D4-8288-253E800FF540}">
      <dgm:prSet/>
      <dgm:spPr/>
      <dgm:t>
        <a:bodyPr/>
        <a:lstStyle/>
        <a:p>
          <a:r>
            <a:rPr lang="en-US" b="1"/>
            <a:t>Source:</a:t>
          </a:r>
          <a:r>
            <a:rPr lang="en-US"/>
            <a:t> Kaggle – Gym Members Exercise Dataset</a:t>
          </a:r>
        </a:p>
      </dgm:t>
    </dgm:pt>
    <dgm:pt modelId="{43B27223-675D-4F10-A0E8-DB9589CCD841}" type="parTrans" cxnId="{E7E7E579-4EB5-41D5-B03D-AF2AFC09D0F6}">
      <dgm:prSet/>
      <dgm:spPr/>
      <dgm:t>
        <a:bodyPr/>
        <a:lstStyle/>
        <a:p>
          <a:endParaRPr lang="en-US"/>
        </a:p>
      </dgm:t>
    </dgm:pt>
    <dgm:pt modelId="{096E77BC-DB47-4891-981F-2B4CBC601F3C}" type="sibTrans" cxnId="{E7E7E579-4EB5-41D5-B03D-AF2AFC09D0F6}">
      <dgm:prSet/>
      <dgm:spPr/>
      <dgm:t>
        <a:bodyPr/>
        <a:lstStyle/>
        <a:p>
          <a:endParaRPr lang="en-US"/>
        </a:p>
      </dgm:t>
    </dgm:pt>
    <dgm:pt modelId="{B16106D9-80AA-4CBD-962D-F9F9685412F6}">
      <dgm:prSet/>
      <dgm:spPr/>
      <dgm:t>
        <a:bodyPr/>
        <a:lstStyle/>
        <a:p>
          <a:r>
            <a:rPr lang="en-US" b="1" dirty="0"/>
            <a:t>Size:</a:t>
          </a:r>
          <a:r>
            <a:rPr lang="en-US" dirty="0"/>
            <a:t> ~973 entries</a:t>
          </a:r>
        </a:p>
      </dgm:t>
    </dgm:pt>
    <dgm:pt modelId="{7B7C1B9D-1AA6-4826-8594-CE26C94A4414}" type="parTrans" cxnId="{3315A627-866F-4D19-898D-D18047E8E6FD}">
      <dgm:prSet/>
      <dgm:spPr/>
      <dgm:t>
        <a:bodyPr/>
        <a:lstStyle/>
        <a:p>
          <a:endParaRPr lang="en-US"/>
        </a:p>
      </dgm:t>
    </dgm:pt>
    <dgm:pt modelId="{BCE94E2C-5B86-4459-9126-EE56477A951D}" type="sibTrans" cxnId="{3315A627-866F-4D19-898D-D18047E8E6FD}">
      <dgm:prSet/>
      <dgm:spPr/>
      <dgm:t>
        <a:bodyPr/>
        <a:lstStyle/>
        <a:p>
          <a:endParaRPr lang="en-US"/>
        </a:p>
      </dgm:t>
    </dgm:pt>
    <dgm:pt modelId="{A133C079-02DD-4C59-994F-43B91EDC2E44}">
      <dgm:prSet/>
      <dgm:spPr/>
      <dgm:t>
        <a:bodyPr/>
        <a:lstStyle/>
        <a:p>
          <a:r>
            <a:rPr lang="en-US" b="1"/>
            <a:t>Key Attributes:</a:t>
          </a:r>
          <a:endParaRPr lang="en-US"/>
        </a:p>
      </dgm:t>
    </dgm:pt>
    <dgm:pt modelId="{D5E08DB1-B54B-4D2B-BC21-FCE837BC30D1}" type="parTrans" cxnId="{58FCF302-FD02-4867-83A0-FAB317E83BD9}">
      <dgm:prSet/>
      <dgm:spPr/>
      <dgm:t>
        <a:bodyPr/>
        <a:lstStyle/>
        <a:p>
          <a:endParaRPr lang="en-US"/>
        </a:p>
      </dgm:t>
    </dgm:pt>
    <dgm:pt modelId="{669BC57E-5124-447D-B9E8-9FB5CFD10F14}" type="sibTrans" cxnId="{58FCF302-FD02-4867-83A0-FAB317E83BD9}">
      <dgm:prSet/>
      <dgm:spPr/>
      <dgm:t>
        <a:bodyPr/>
        <a:lstStyle/>
        <a:p>
          <a:endParaRPr lang="en-US"/>
        </a:p>
      </dgm:t>
    </dgm:pt>
    <dgm:pt modelId="{E7BF5B7D-713E-47FD-BC52-C8BE14E713ED}">
      <dgm:prSet/>
      <dgm:spPr/>
      <dgm:t>
        <a:bodyPr/>
        <a:lstStyle/>
        <a:p>
          <a:r>
            <a:rPr lang="en-US" b="1"/>
            <a:t>Demographics:</a:t>
          </a:r>
          <a:r>
            <a:rPr lang="en-US"/>
            <a:t> Age, Gender</a:t>
          </a:r>
        </a:p>
      </dgm:t>
    </dgm:pt>
    <dgm:pt modelId="{EB87C7E1-AE07-4686-BCEB-570BB7FB980E}" type="parTrans" cxnId="{5B1F11FA-92FA-4D80-B3BC-40ED1F6504DD}">
      <dgm:prSet/>
      <dgm:spPr/>
      <dgm:t>
        <a:bodyPr/>
        <a:lstStyle/>
        <a:p>
          <a:endParaRPr lang="en-US"/>
        </a:p>
      </dgm:t>
    </dgm:pt>
    <dgm:pt modelId="{8D53BF48-8E0D-45E5-B772-C10A2EC8B4C3}" type="sibTrans" cxnId="{5B1F11FA-92FA-4D80-B3BC-40ED1F6504DD}">
      <dgm:prSet/>
      <dgm:spPr/>
      <dgm:t>
        <a:bodyPr/>
        <a:lstStyle/>
        <a:p>
          <a:endParaRPr lang="en-US"/>
        </a:p>
      </dgm:t>
    </dgm:pt>
    <dgm:pt modelId="{9E45969E-31F1-4F1E-BAF8-B09394079596}">
      <dgm:prSet/>
      <dgm:spPr/>
      <dgm:t>
        <a:bodyPr/>
        <a:lstStyle/>
        <a:p>
          <a:r>
            <a:rPr lang="en-US" b="1"/>
            <a:t>Body Metrics:</a:t>
          </a:r>
          <a:r>
            <a:rPr lang="en-US"/>
            <a:t> BMI, Fat Percentage</a:t>
          </a:r>
        </a:p>
      </dgm:t>
    </dgm:pt>
    <dgm:pt modelId="{1BCC070B-5FCF-4AD8-A0AB-DAEE3ABC5430}" type="parTrans" cxnId="{0AD29F63-B603-44D1-BB48-3E3FE2F2BF8B}">
      <dgm:prSet/>
      <dgm:spPr/>
      <dgm:t>
        <a:bodyPr/>
        <a:lstStyle/>
        <a:p>
          <a:endParaRPr lang="en-US"/>
        </a:p>
      </dgm:t>
    </dgm:pt>
    <dgm:pt modelId="{15B3BD5D-50BF-4BAA-A5E6-A84588CDE200}" type="sibTrans" cxnId="{0AD29F63-B603-44D1-BB48-3E3FE2F2BF8B}">
      <dgm:prSet/>
      <dgm:spPr/>
      <dgm:t>
        <a:bodyPr/>
        <a:lstStyle/>
        <a:p>
          <a:endParaRPr lang="en-US"/>
        </a:p>
      </dgm:t>
    </dgm:pt>
    <dgm:pt modelId="{9B5F4355-9927-4C97-9DBD-7462E017F52B}">
      <dgm:prSet/>
      <dgm:spPr/>
      <dgm:t>
        <a:bodyPr/>
        <a:lstStyle/>
        <a:p>
          <a:r>
            <a:rPr lang="en-US" b="1"/>
            <a:t>Workout Habits:</a:t>
          </a:r>
          <a:r>
            <a:rPr lang="en-US"/>
            <a:t> Type, Frequency, Duration</a:t>
          </a:r>
        </a:p>
      </dgm:t>
    </dgm:pt>
    <dgm:pt modelId="{982391A6-79D0-4080-B059-45594173BB72}" type="parTrans" cxnId="{226CA5B5-B824-43E7-AD50-0241BEA600F8}">
      <dgm:prSet/>
      <dgm:spPr/>
      <dgm:t>
        <a:bodyPr/>
        <a:lstStyle/>
        <a:p>
          <a:endParaRPr lang="en-US"/>
        </a:p>
      </dgm:t>
    </dgm:pt>
    <dgm:pt modelId="{94EBA8B2-CF97-4311-902B-6A1D966151FB}" type="sibTrans" cxnId="{226CA5B5-B824-43E7-AD50-0241BEA600F8}">
      <dgm:prSet/>
      <dgm:spPr/>
      <dgm:t>
        <a:bodyPr/>
        <a:lstStyle/>
        <a:p>
          <a:endParaRPr lang="en-US"/>
        </a:p>
      </dgm:t>
    </dgm:pt>
    <dgm:pt modelId="{5AA0F1E2-4BBF-4C18-B47E-23DF1F7E6C18}">
      <dgm:prSet/>
      <dgm:spPr/>
      <dgm:t>
        <a:bodyPr/>
        <a:lstStyle/>
        <a:p>
          <a:r>
            <a:rPr lang="en-US" b="1"/>
            <a:t>Outcomes:</a:t>
          </a:r>
          <a:r>
            <a:rPr lang="en-US"/>
            <a:t> Calories Burned, Resting Heart Rate, Active BPM</a:t>
          </a:r>
        </a:p>
      </dgm:t>
    </dgm:pt>
    <dgm:pt modelId="{003D0021-1F3F-4B3B-9D4F-5C20E17A6909}" type="parTrans" cxnId="{313E5B14-7970-4E08-BB54-61F6CDC8213C}">
      <dgm:prSet/>
      <dgm:spPr/>
      <dgm:t>
        <a:bodyPr/>
        <a:lstStyle/>
        <a:p>
          <a:endParaRPr lang="en-US"/>
        </a:p>
      </dgm:t>
    </dgm:pt>
    <dgm:pt modelId="{4984CAE4-84E1-4293-8F78-014C7E8CD2B7}" type="sibTrans" cxnId="{313E5B14-7970-4E08-BB54-61F6CDC8213C}">
      <dgm:prSet/>
      <dgm:spPr/>
      <dgm:t>
        <a:bodyPr/>
        <a:lstStyle/>
        <a:p>
          <a:endParaRPr lang="en-US"/>
        </a:p>
      </dgm:t>
    </dgm:pt>
    <dgm:pt modelId="{112111E0-03B8-4BDA-B1E6-43805AE2C364}">
      <dgm:prSet/>
      <dgm:spPr/>
      <dgm:t>
        <a:bodyPr/>
        <a:lstStyle/>
        <a:p>
          <a:r>
            <a:rPr lang="en-US"/>
            <a:t>Useful for analyzing how behavior (workouts) links to physical outcomes</a:t>
          </a:r>
        </a:p>
      </dgm:t>
    </dgm:pt>
    <dgm:pt modelId="{B58AED53-A937-4319-B62C-1F226CFB7476}" type="parTrans" cxnId="{06593C99-50E9-408B-A878-729C61B3D33F}">
      <dgm:prSet/>
      <dgm:spPr/>
      <dgm:t>
        <a:bodyPr/>
        <a:lstStyle/>
        <a:p>
          <a:endParaRPr lang="en-US"/>
        </a:p>
      </dgm:t>
    </dgm:pt>
    <dgm:pt modelId="{F6DC6765-9D37-4DA2-8F96-8897A04F2E4A}" type="sibTrans" cxnId="{06593C99-50E9-408B-A878-729C61B3D33F}">
      <dgm:prSet/>
      <dgm:spPr/>
      <dgm:t>
        <a:bodyPr/>
        <a:lstStyle/>
        <a:p>
          <a:endParaRPr lang="en-US"/>
        </a:p>
      </dgm:t>
    </dgm:pt>
    <dgm:pt modelId="{8666EACC-2E7A-4360-AB98-22AB92B5770C}" type="pres">
      <dgm:prSet presAssocID="{27456514-0FB1-4262-B49D-381150FA31AB}" presName="vert0" presStyleCnt="0">
        <dgm:presLayoutVars>
          <dgm:dir/>
          <dgm:animOne val="branch"/>
          <dgm:animLvl val="lvl"/>
        </dgm:presLayoutVars>
      </dgm:prSet>
      <dgm:spPr/>
    </dgm:pt>
    <dgm:pt modelId="{A48FE18F-467D-4B88-A7F4-459FB0C1E05E}" type="pres">
      <dgm:prSet presAssocID="{86FFC319-523A-41D4-8288-253E800FF540}" presName="thickLine" presStyleLbl="alignNode1" presStyleIdx="0" presStyleCnt="8"/>
      <dgm:spPr/>
    </dgm:pt>
    <dgm:pt modelId="{1E45832C-070A-44D1-AB42-A14CC9EB9EB0}" type="pres">
      <dgm:prSet presAssocID="{86FFC319-523A-41D4-8288-253E800FF540}" presName="horz1" presStyleCnt="0"/>
      <dgm:spPr/>
    </dgm:pt>
    <dgm:pt modelId="{286F5299-F8E8-4203-AF79-EF58E0A8D5AA}" type="pres">
      <dgm:prSet presAssocID="{86FFC319-523A-41D4-8288-253E800FF540}" presName="tx1" presStyleLbl="revTx" presStyleIdx="0" presStyleCnt="8"/>
      <dgm:spPr/>
    </dgm:pt>
    <dgm:pt modelId="{4B924B2F-1ED3-4CC8-A8F1-755DAD6BB850}" type="pres">
      <dgm:prSet presAssocID="{86FFC319-523A-41D4-8288-253E800FF540}" presName="vert1" presStyleCnt="0"/>
      <dgm:spPr/>
    </dgm:pt>
    <dgm:pt modelId="{69CDFFC7-673C-46D2-9E8F-05396274739F}" type="pres">
      <dgm:prSet presAssocID="{B16106D9-80AA-4CBD-962D-F9F9685412F6}" presName="thickLine" presStyleLbl="alignNode1" presStyleIdx="1" presStyleCnt="8"/>
      <dgm:spPr/>
    </dgm:pt>
    <dgm:pt modelId="{67F18459-422B-4E1A-9F41-C1078F0749F1}" type="pres">
      <dgm:prSet presAssocID="{B16106D9-80AA-4CBD-962D-F9F9685412F6}" presName="horz1" presStyleCnt="0"/>
      <dgm:spPr/>
    </dgm:pt>
    <dgm:pt modelId="{E701A6BD-EB49-4D27-9C84-625FC2C9371C}" type="pres">
      <dgm:prSet presAssocID="{B16106D9-80AA-4CBD-962D-F9F9685412F6}" presName="tx1" presStyleLbl="revTx" presStyleIdx="1" presStyleCnt="8"/>
      <dgm:spPr/>
    </dgm:pt>
    <dgm:pt modelId="{9D7CA44E-7CB0-4DDB-91BE-80785F80F7DB}" type="pres">
      <dgm:prSet presAssocID="{B16106D9-80AA-4CBD-962D-F9F9685412F6}" presName="vert1" presStyleCnt="0"/>
      <dgm:spPr/>
    </dgm:pt>
    <dgm:pt modelId="{878DB24F-46D6-4EE4-8FED-FCF962B98703}" type="pres">
      <dgm:prSet presAssocID="{A133C079-02DD-4C59-994F-43B91EDC2E44}" presName="thickLine" presStyleLbl="alignNode1" presStyleIdx="2" presStyleCnt="8"/>
      <dgm:spPr/>
    </dgm:pt>
    <dgm:pt modelId="{7F891283-CFAE-428C-9166-8CAEF85AC42A}" type="pres">
      <dgm:prSet presAssocID="{A133C079-02DD-4C59-994F-43B91EDC2E44}" presName="horz1" presStyleCnt="0"/>
      <dgm:spPr/>
    </dgm:pt>
    <dgm:pt modelId="{51118456-FC56-43D8-8845-6DD2A279D43E}" type="pres">
      <dgm:prSet presAssocID="{A133C079-02DD-4C59-994F-43B91EDC2E44}" presName="tx1" presStyleLbl="revTx" presStyleIdx="2" presStyleCnt="8"/>
      <dgm:spPr/>
    </dgm:pt>
    <dgm:pt modelId="{184C86F2-981A-425B-B303-850081B48BB9}" type="pres">
      <dgm:prSet presAssocID="{A133C079-02DD-4C59-994F-43B91EDC2E44}" presName="vert1" presStyleCnt="0"/>
      <dgm:spPr/>
    </dgm:pt>
    <dgm:pt modelId="{16D25999-E065-4CA4-8EB8-E6002E99D8F2}" type="pres">
      <dgm:prSet presAssocID="{E7BF5B7D-713E-47FD-BC52-C8BE14E713ED}" presName="thickLine" presStyleLbl="alignNode1" presStyleIdx="3" presStyleCnt="8"/>
      <dgm:spPr/>
    </dgm:pt>
    <dgm:pt modelId="{4D4B5C0B-29EA-4057-A13B-2A7F1E5A4216}" type="pres">
      <dgm:prSet presAssocID="{E7BF5B7D-713E-47FD-BC52-C8BE14E713ED}" presName="horz1" presStyleCnt="0"/>
      <dgm:spPr/>
    </dgm:pt>
    <dgm:pt modelId="{9EC5AAEE-F766-4185-9DFE-D6E6EE0511CD}" type="pres">
      <dgm:prSet presAssocID="{E7BF5B7D-713E-47FD-BC52-C8BE14E713ED}" presName="tx1" presStyleLbl="revTx" presStyleIdx="3" presStyleCnt="8"/>
      <dgm:spPr/>
    </dgm:pt>
    <dgm:pt modelId="{AB3E76C4-5242-4190-B215-53FE0F361B19}" type="pres">
      <dgm:prSet presAssocID="{E7BF5B7D-713E-47FD-BC52-C8BE14E713ED}" presName="vert1" presStyleCnt="0"/>
      <dgm:spPr/>
    </dgm:pt>
    <dgm:pt modelId="{A2272A30-0E1A-460C-A90F-A7D82C09649F}" type="pres">
      <dgm:prSet presAssocID="{9E45969E-31F1-4F1E-BAF8-B09394079596}" presName="thickLine" presStyleLbl="alignNode1" presStyleIdx="4" presStyleCnt="8"/>
      <dgm:spPr/>
    </dgm:pt>
    <dgm:pt modelId="{25154E46-08E9-4CE1-927B-510E4D0E6F3F}" type="pres">
      <dgm:prSet presAssocID="{9E45969E-31F1-4F1E-BAF8-B09394079596}" presName="horz1" presStyleCnt="0"/>
      <dgm:spPr/>
    </dgm:pt>
    <dgm:pt modelId="{3CD4360E-A964-4DB1-835D-239B788D0770}" type="pres">
      <dgm:prSet presAssocID="{9E45969E-31F1-4F1E-BAF8-B09394079596}" presName="tx1" presStyleLbl="revTx" presStyleIdx="4" presStyleCnt="8"/>
      <dgm:spPr/>
    </dgm:pt>
    <dgm:pt modelId="{5605F57A-6C46-4246-B832-C398ACA9D1F9}" type="pres">
      <dgm:prSet presAssocID="{9E45969E-31F1-4F1E-BAF8-B09394079596}" presName="vert1" presStyleCnt="0"/>
      <dgm:spPr/>
    </dgm:pt>
    <dgm:pt modelId="{8DE68133-4635-4A53-86B5-C36FD0279CA4}" type="pres">
      <dgm:prSet presAssocID="{9B5F4355-9927-4C97-9DBD-7462E017F52B}" presName="thickLine" presStyleLbl="alignNode1" presStyleIdx="5" presStyleCnt="8"/>
      <dgm:spPr/>
    </dgm:pt>
    <dgm:pt modelId="{5D5E76AC-1E88-4C09-99D5-B188532B5083}" type="pres">
      <dgm:prSet presAssocID="{9B5F4355-9927-4C97-9DBD-7462E017F52B}" presName="horz1" presStyleCnt="0"/>
      <dgm:spPr/>
    </dgm:pt>
    <dgm:pt modelId="{057856E8-6DF0-4A31-A265-345AAADC04DA}" type="pres">
      <dgm:prSet presAssocID="{9B5F4355-9927-4C97-9DBD-7462E017F52B}" presName="tx1" presStyleLbl="revTx" presStyleIdx="5" presStyleCnt="8"/>
      <dgm:spPr/>
    </dgm:pt>
    <dgm:pt modelId="{8D102F43-7EEA-4331-875F-73FE94EE049F}" type="pres">
      <dgm:prSet presAssocID="{9B5F4355-9927-4C97-9DBD-7462E017F52B}" presName="vert1" presStyleCnt="0"/>
      <dgm:spPr/>
    </dgm:pt>
    <dgm:pt modelId="{DBEAE2E3-D20D-4FEE-8D49-9DC6607D9F36}" type="pres">
      <dgm:prSet presAssocID="{5AA0F1E2-4BBF-4C18-B47E-23DF1F7E6C18}" presName="thickLine" presStyleLbl="alignNode1" presStyleIdx="6" presStyleCnt="8"/>
      <dgm:spPr/>
    </dgm:pt>
    <dgm:pt modelId="{5F03FAAC-3845-46A9-8C10-D96710BE0745}" type="pres">
      <dgm:prSet presAssocID="{5AA0F1E2-4BBF-4C18-B47E-23DF1F7E6C18}" presName="horz1" presStyleCnt="0"/>
      <dgm:spPr/>
    </dgm:pt>
    <dgm:pt modelId="{5DB7BC17-67A9-4AD9-A174-06323863BB46}" type="pres">
      <dgm:prSet presAssocID="{5AA0F1E2-4BBF-4C18-B47E-23DF1F7E6C18}" presName="tx1" presStyleLbl="revTx" presStyleIdx="6" presStyleCnt="8"/>
      <dgm:spPr/>
    </dgm:pt>
    <dgm:pt modelId="{D7D2C8BF-F37D-4B04-A642-0A4B25761773}" type="pres">
      <dgm:prSet presAssocID="{5AA0F1E2-4BBF-4C18-B47E-23DF1F7E6C18}" presName="vert1" presStyleCnt="0"/>
      <dgm:spPr/>
    </dgm:pt>
    <dgm:pt modelId="{67E4CBA5-71A8-493B-BDC5-EAB84358E8D2}" type="pres">
      <dgm:prSet presAssocID="{112111E0-03B8-4BDA-B1E6-43805AE2C364}" presName="thickLine" presStyleLbl="alignNode1" presStyleIdx="7" presStyleCnt="8"/>
      <dgm:spPr/>
    </dgm:pt>
    <dgm:pt modelId="{67219441-ACC1-4503-9409-5E85A12E8415}" type="pres">
      <dgm:prSet presAssocID="{112111E0-03B8-4BDA-B1E6-43805AE2C364}" presName="horz1" presStyleCnt="0"/>
      <dgm:spPr/>
    </dgm:pt>
    <dgm:pt modelId="{8F40F88B-A189-4377-A3F8-FF493880BF80}" type="pres">
      <dgm:prSet presAssocID="{112111E0-03B8-4BDA-B1E6-43805AE2C364}" presName="tx1" presStyleLbl="revTx" presStyleIdx="7" presStyleCnt="8"/>
      <dgm:spPr/>
    </dgm:pt>
    <dgm:pt modelId="{850793CD-C56B-42E7-9CAA-03FA34FFB726}" type="pres">
      <dgm:prSet presAssocID="{112111E0-03B8-4BDA-B1E6-43805AE2C364}" presName="vert1" presStyleCnt="0"/>
      <dgm:spPr/>
    </dgm:pt>
  </dgm:ptLst>
  <dgm:cxnLst>
    <dgm:cxn modelId="{58FCF302-FD02-4867-83A0-FAB317E83BD9}" srcId="{27456514-0FB1-4262-B49D-381150FA31AB}" destId="{A133C079-02DD-4C59-994F-43B91EDC2E44}" srcOrd="2" destOrd="0" parTransId="{D5E08DB1-B54B-4D2B-BC21-FCE837BC30D1}" sibTransId="{669BC57E-5124-447D-B9E8-9FB5CFD10F14}"/>
    <dgm:cxn modelId="{415DA603-08EE-4681-A3C0-8FA807C35DA6}" type="presOf" srcId="{86FFC319-523A-41D4-8288-253E800FF540}" destId="{286F5299-F8E8-4203-AF79-EF58E0A8D5AA}" srcOrd="0" destOrd="0" presId="urn:microsoft.com/office/officeart/2008/layout/LinedList"/>
    <dgm:cxn modelId="{313E5B14-7970-4E08-BB54-61F6CDC8213C}" srcId="{27456514-0FB1-4262-B49D-381150FA31AB}" destId="{5AA0F1E2-4BBF-4C18-B47E-23DF1F7E6C18}" srcOrd="6" destOrd="0" parTransId="{003D0021-1F3F-4B3B-9D4F-5C20E17A6909}" sibTransId="{4984CAE4-84E1-4293-8F78-014C7E8CD2B7}"/>
    <dgm:cxn modelId="{8F69EC15-A2AC-4846-8B35-A16E19A15FD7}" type="presOf" srcId="{9E45969E-31F1-4F1E-BAF8-B09394079596}" destId="{3CD4360E-A964-4DB1-835D-239B788D0770}" srcOrd="0" destOrd="0" presId="urn:microsoft.com/office/officeart/2008/layout/LinedList"/>
    <dgm:cxn modelId="{3315A627-866F-4D19-898D-D18047E8E6FD}" srcId="{27456514-0FB1-4262-B49D-381150FA31AB}" destId="{B16106D9-80AA-4CBD-962D-F9F9685412F6}" srcOrd="1" destOrd="0" parTransId="{7B7C1B9D-1AA6-4826-8594-CE26C94A4414}" sibTransId="{BCE94E2C-5B86-4459-9126-EE56477A951D}"/>
    <dgm:cxn modelId="{DF89F32A-2562-4FAB-A2D0-33AB17A6D192}" type="presOf" srcId="{5AA0F1E2-4BBF-4C18-B47E-23DF1F7E6C18}" destId="{5DB7BC17-67A9-4AD9-A174-06323863BB46}" srcOrd="0" destOrd="0" presId="urn:microsoft.com/office/officeart/2008/layout/LinedList"/>
    <dgm:cxn modelId="{0AD29F63-B603-44D1-BB48-3E3FE2F2BF8B}" srcId="{27456514-0FB1-4262-B49D-381150FA31AB}" destId="{9E45969E-31F1-4F1E-BAF8-B09394079596}" srcOrd="4" destOrd="0" parTransId="{1BCC070B-5FCF-4AD8-A0AB-DAEE3ABC5430}" sibTransId="{15B3BD5D-50BF-4BAA-A5E6-A84588CDE200}"/>
    <dgm:cxn modelId="{D15DFA64-8F7B-411D-9802-FEC16053B271}" type="presOf" srcId="{B16106D9-80AA-4CBD-962D-F9F9685412F6}" destId="{E701A6BD-EB49-4D27-9C84-625FC2C9371C}" srcOrd="0" destOrd="0" presId="urn:microsoft.com/office/officeart/2008/layout/LinedList"/>
    <dgm:cxn modelId="{85D7E56B-A610-40E4-BE96-D2CA5041CE0C}" type="presOf" srcId="{A133C079-02DD-4C59-994F-43B91EDC2E44}" destId="{51118456-FC56-43D8-8845-6DD2A279D43E}" srcOrd="0" destOrd="0" presId="urn:microsoft.com/office/officeart/2008/layout/LinedList"/>
    <dgm:cxn modelId="{E7E7E579-4EB5-41D5-B03D-AF2AFC09D0F6}" srcId="{27456514-0FB1-4262-B49D-381150FA31AB}" destId="{86FFC319-523A-41D4-8288-253E800FF540}" srcOrd="0" destOrd="0" parTransId="{43B27223-675D-4F10-A0E8-DB9589CCD841}" sibTransId="{096E77BC-DB47-4891-981F-2B4CBC601F3C}"/>
    <dgm:cxn modelId="{06593C99-50E9-408B-A878-729C61B3D33F}" srcId="{27456514-0FB1-4262-B49D-381150FA31AB}" destId="{112111E0-03B8-4BDA-B1E6-43805AE2C364}" srcOrd="7" destOrd="0" parTransId="{B58AED53-A937-4319-B62C-1F226CFB7476}" sibTransId="{F6DC6765-9D37-4DA2-8F96-8897A04F2E4A}"/>
    <dgm:cxn modelId="{7D55E19D-FE38-458E-9EE1-109671D9632A}" type="presOf" srcId="{E7BF5B7D-713E-47FD-BC52-C8BE14E713ED}" destId="{9EC5AAEE-F766-4185-9DFE-D6E6EE0511CD}" srcOrd="0" destOrd="0" presId="urn:microsoft.com/office/officeart/2008/layout/LinedList"/>
    <dgm:cxn modelId="{FFC518B2-1618-4E5D-98E2-59DAD87B5253}" type="presOf" srcId="{9B5F4355-9927-4C97-9DBD-7462E017F52B}" destId="{057856E8-6DF0-4A31-A265-345AAADC04DA}" srcOrd="0" destOrd="0" presId="urn:microsoft.com/office/officeart/2008/layout/LinedList"/>
    <dgm:cxn modelId="{226CA5B5-B824-43E7-AD50-0241BEA600F8}" srcId="{27456514-0FB1-4262-B49D-381150FA31AB}" destId="{9B5F4355-9927-4C97-9DBD-7462E017F52B}" srcOrd="5" destOrd="0" parTransId="{982391A6-79D0-4080-B059-45594173BB72}" sibTransId="{94EBA8B2-CF97-4311-902B-6A1D966151FB}"/>
    <dgm:cxn modelId="{326945BB-16D6-4B07-86AC-2D9196048C40}" type="presOf" srcId="{112111E0-03B8-4BDA-B1E6-43805AE2C364}" destId="{8F40F88B-A189-4377-A3F8-FF493880BF80}" srcOrd="0" destOrd="0" presId="urn:microsoft.com/office/officeart/2008/layout/LinedList"/>
    <dgm:cxn modelId="{67A5C0DE-5054-454C-BF43-807A9D3CA43E}" type="presOf" srcId="{27456514-0FB1-4262-B49D-381150FA31AB}" destId="{8666EACC-2E7A-4360-AB98-22AB92B5770C}" srcOrd="0" destOrd="0" presId="urn:microsoft.com/office/officeart/2008/layout/LinedList"/>
    <dgm:cxn modelId="{5B1F11FA-92FA-4D80-B3BC-40ED1F6504DD}" srcId="{27456514-0FB1-4262-B49D-381150FA31AB}" destId="{E7BF5B7D-713E-47FD-BC52-C8BE14E713ED}" srcOrd="3" destOrd="0" parTransId="{EB87C7E1-AE07-4686-BCEB-570BB7FB980E}" sibTransId="{8D53BF48-8E0D-45E5-B772-C10A2EC8B4C3}"/>
    <dgm:cxn modelId="{2649AB82-EC1E-40C3-BAA8-0AAA076BD6AB}" type="presParOf" srcId="{8666EACC-2E7A-4360-AB98-22AB92B5770C}" destId="{A48FE18F-467D-4B88-A7F4-459FB0C1E05E}" srcOrd="0" destOrd="0" presId="urn:microsoft.com/office/officeart/2008/layout/LinedList"/>
    <dgm:cxn modelId="{CE38B026-2C87-4A36-8ED0-112753F097ED}" type="presParOf" srcId="{8666EACC-2E7A-4360-AB98-22AB92B5770C}" destId="{1E45832C-070A-44D1-AB42-A14CC9EB9EB0}" srcOrd="1" destOrd="0" presId="urn:microsoft.com/office/officeart/2008/layout/LinedList"/>
    <dgm:cxn modelId="{B8E3CAAC-6B35-453F-B088-21D3EBAC532F}" type="presParOf" srcId="{1E45832C-070A-44D1-AB42-A14CC9EB9EB0}" destId="{286F5299-F8E8-4203-AF79-EF58E0A8D5AA}" srcOrd="0" destOrd="0" presId="urn:microsoft.com/office/officeart/2008/layout/LinedList"/>
    <dgm:cxn modelId="{5B0C2111-DB23-47A9-B499-C4D337E75B6C}" type="presParOf" srcId="{1E45832C-070A-44D1-AB42-A14CC9EB9EB0}" destId="{4B924B2F-1ED3-4CC8-A8F1-755DAD6BB850}" srcOrd="1" destOrd="0" presId="urn:microsoft.com/office/officeart/2008/layout/LinedList"/>
    <dgm:cxn modelId="{013E1CB5-0BC3-464D-860F-EA50B75448C7}" type="presParOf" srcId="{8666EACC-2E7A-4360-AB98-22AB92B5770C}" destId="{69CDFFC7-673C-46D2-9E8F-05396274739F}" srcOrd="2" destOrd="0" presId="urn:microsoft.com/office/officeart/2008/layout/LinedList"/>
    <dgm:cxn modelId="{F0CED7E8-6A50-4791-A085-67F38CD93506}" type="presParOf" srcId="{8666EACC-2E7A-4360-AB98-22AB92B5770C}" destId="{67F18459-422B-4E1A-9F41-C1078F0749F1}" srcOrd="3" destOrd="0" presId="urn:microsoft.com/office/officeart/2008/layout/LinedList"/>
    <dgm:cxn modelId="{1C5835A5-AA9C-44E6-BA18-758EE4E913E1}" type="presParOf" srcId="{67F18459-422B-4E1A-9F41-C1078F0749F1}" destId="{E701A6BD-EB49-4D27-9C84-625FC2C9371C}" srcOrd="0" destOrd="0" presId="urn:microsoft.com/office/officeart/2008/layout/LinedList"/>
    <dgm:cxn modelId="{C36A9126-0623-450D-91BD-46B3F6DE457B}" type="presParOf" srcId="{67F18459-422B-4E1A-9F41-C1078F0749F1}" destId="{9D7CA44E-7CB0-4DDB-91BE-80785F80F7DB}" srcOrd="1" destOrd="0" presId="urn:microsoft.com/office/officeart/2008/layout/LinedList"/>
    <dgm:cxn modelId="{D85434BD-6214-41D3-B51A-9EAD41FE090A}" type="presParOf" srcId="{8666EACC-2E7A-4360-AB98-22AB92B5770C}" destId="{878DB24F-46D6-4EE4-8FED-FCF962B98703}" srcOrd="4" destOrd="0" presId="urn:microsoft.com/office/officeart/2008/layout/LinedList"/>
    <dgm:cxn modelId="{29513038-6508-4BE8-81DE-0BC4861E11D7}" type="presParOf" srcId="{8666EACC-2E7A-4360-AB98-22AB92B5770C}" destId="{7F891283-CFAE-428C-9166-8CAEF85AC42A}" srcOrd="5" destOrd="0" presId="urn:microsoft.com/office/officeart/2008/layout/LinedList"/>
    <dgm:cxn modelId="{45876EC7-2041-4C93-A6CB-6B1F8E4581D0}" type="presParOf" srcId="{7F891283-CFAE-428C-9166-8CAEF85AC42A}" destId="{51118456-FC56-43D8-8845-6DD2A279D43E}" srcOrd="0" destOrd="0" presId="urn:microsoft.com/office/officeart/2008/layout/LinedList"/>
    <dgm:cxn modelId="{9657DFA6-D0B2-42A1-8415-0656BF64893F}" type="presParOf" srcId="{7F891283-CFAE-428C-9166-8CAEF85AC42A}" destId="{184C86F2-981A-425B-B303-850081B48BB9}" srcOrd="1" destOrd="0" presId="urn:microsoft.com/office/officeart/2008/layout/LinedList"/>
    <dgm:cxn modelId="{9514DEA7-4AA4-4932-890E-424452AF6D83}" type="presParOf" srcId="{8666EACC-2E7A-4360-AB98-22AB92B5770C}" destId="{16D25999-E065-4CA4-8EB8-E6002E99D8F2}" srcOrd="6" destOrd="0" presId="urn:microsoft.com/office/officeart/2008/layout/LinedList"/>
    <dgm:cxn modelId="{14F3D97F-86E8-4F2B-AF6F-195E9B42A735}" type="presParOf" srcId="{8666EACC-2E7A-4360-AB98-22AB92B5770C}" destId="{4D4B5C0B-29EA-4057-A13B-2A7F1E5A4216}" srcOrd="7" destOrd="0" presId="urn:microsoft.com/office/officeart/2008/layout/LinedList"/>
    <dgm:cxn modelId="{C1B5CA53-2C54-4D76-98D7-E92256EFF76C}" type="presParOf" srcId="{4D4B5C0B-29EA-4057-A13B-2A7F1E5A4216}" destId="{9EC5AAEE-F766-4185-9DFE-D6E6EE0511CD}" srcOrd="0" destOrd="0" presId="urn:microsoft.com/office/officeart/2008/layout/LinedList"/>
    <dgm:cxn modelId="{0EB62130-19FD-45B2-A6DD-88CB65D3FEF2}" type="presParOf" srcId="{4D4B5C0B-29EA-4057-A13B-2A7F1E5A4216}" destId="{AB3E76C4-5242-4190-B215-53FE0F361B19}" srcOrd="1" destOrd="0" presId="urn:microsoft.com/office/officeart/2008/layout/LinedList"/>
    <dgm:cxn modelId="{75F52761-015E-4864-B07E-D9577EA2605E}" type="presParOf" srcId="{8666EACC-2E7A-4360-AB98-22AB92B5770C}" destId="{A2272A30-0E1A-460C-A90F-A7D82C09649F}" srcOrd="8" destOrd="0" presId="urn:microsoft.com/office/officeart/2008/layout/LinedList"/>
    <dgm:cxn modelId="{0DC65638-1EDA-466E-BE8F-D9268A17F1F9}" type="presParOf" srcId="{8666EACC-2E7A-4360-AB98-22AB92B5770C}" destId="{25154E46-08E9-4CE1-927B-510E4D0E6F3F}" srcOrd="9" destOrd="0" presId="urn:microsoft.com/office/officeart/2008/layout/LinedList"/>
    <dgm:cxn modelId="{F011A5B2-3580-4DAB-87BC-A34E651E0C39}" type="presParOf" srcId="{25154E46-08E9-4CE1-927B-510E4D0E6F3F}" destId="{3CD4360E-A964-4DB1-835D-239B788D0770}" srcOrd="0" destOrd="0" presId="urn:microsoft.com/office/officeart/2008/layout/LinedList"/>
    <dgm:cxn modelId="{A7EE8308-81B4-40E9-9C28-87A8676A2784}" type="presParOf" srcId="{25154E46-08E9-4CE1-927B-510E4D0E6F3F}" destId="{5605F57A-6C46-4246-B832-C398ACA9D1F9}" srcOrd="1" destOrd="0" presId="urn:microsoft.com/office/officeart/2008/layout/LinedList"/>
    <dgm:cxn modelId="{F8B18A82-810E-461F-A53B-CC483DFFB8BA}" type="presParOf" srcId="{8666EACC-2E7A-4360-AB98-22AB92B5770C}" destId="{8DE68133-4635-4A53-86B5-C36FD0279CA4}" srcOrd="10" destOrd="0" presId="urn:microsoft.com/office/officeart/2008/layout/LinedList"/>
    <dgm:cxn modelId="{A3C07B9B-F885-4E9A-ADD6-80182FCAFCC5}" type="presParOf" srcId="{8666EACC-2E7A-4360-AB98-22AB92B5770C}" destId="{5D5E76AC-1E88-4C09-99D5-B188532B5083}" srcOrd="11" destOrd="0" presId="urn:microsoft.com/office/officeart/2008/layout/LinedList"/>
    <dgm:cxn modelId="{9FFE0C8A-DF8D-4E8D-AD16-F01A1C24DA4C}" type="presParOf" srcId="{5D5E76AC-1E88-4C09-99D5-B188532B5083}" destId="{057856E8-6DF0-4A31-A265-345AAADC04DA}" srcOrd="0" destOrd="0" presId="urn:microsoft.com/office/officeart/2008/layout/LinedList"/>
    <dgm:cxn modelId="{FD410C42-DF92-4214-9567-D4A206FA0211}" type="presParOf" srcId="{5D5E76AC-1E88-4C09-99D5-B188532B5083}" destId="{8D102F43-7EEA-4331-875F-73FE94EE049F}" srcOrd="1" destOrd="0" presId="urn:microsoft.com/office/officeart/2008/layout/LinedList"/>
    <dgm:cxn modelId="{F690800F-5309-4B2A-8B8B-A8E9FA3E2FE2}" type="presParOf" srcId="{8666EACC-2E7A-4360-AB98-22AB92B5770C}" destId="{DBEAE2E3-D20D-4FEE-8D49-9DC6607D9F36}" srcOrd="12" destOrd="0" presId="urn:microsoft.com/office/officeart/2008/layout/LinedList"/>
    <dgm:cxn modelId="{E17ADAB7-2FA9-4D17-9A06-F9C18EF15254}" type="presParOf" srcId="{8666EACC-2E7A-4360-AB98-22AB92B5770C}" destId="{5F03FAAC-3845-46A9-8C10-D96710BE0745}" srcOrd="13" destOrd="0" presId="urn:microsoft.com/office/officeart/2008/layout/LinedList"/>
    <dgm:cxn modelId="{EB73E360-D41C-4FDE-8729-41E44554DF45}" type="presParOf" srcId="{5F03FAAC-3845-46A9-8C10-D96710BE0745}" destId="{5DB7BC17-67A9-4AD9-A174-06323863BB46}" srcOrd="0" destOrd="0" presId="urn:microsoft.com/office/officeart/2008/layout/LinedList"/>
    <dgm:cxn modelId="{498299F7-7528-4868-92F8-5397C8B6685B}" type="presParOf" srcId="{5F03FAAC-3845-46A9-8C10-D96710BE0745}" destId="{D7D2C8BF-F37D-4B04-A642-0A4B25761773}" srcOrd="1" destOrd="0" presId="urn:microsoft.com/office/officeart/2008/layout/LinedList"/>
    <dgm:cxn modelId="{84F702EC-2628-46FE-B2A0-7553C3A22B8F}" type="presParOf" srcId="{8666EACC-2E7A-4360-AB98-22AB92B5770C}" destId="{67E4CBA5-71A8-493B-BDC5-EAB84358E8D2}" srcOrd="14" destOrd="0" presId="urn:microsoft.com/office/officeart/2008/layout/LinedList"/>
    <dgm:cxn modelId="{719A87C4-AC04-4D52-A9A3-0E2A6E17CE6F}" type="presParOf" srcId="{8666EACC-2E7A-4360-AB98-22AB92B5770C}" destId="{67219441-ACC1-4503-9409-5E85A12E8415}" srcOrd="15" destOrd="0" presId="urn:microsoft.com/office/officeart/2008/layout/LinedList"/>
    <dgm:cxn modelId="{B4DD1659-CA36-4431-9398-EA92E1A5081B}" type="presParOf" srcId="{67219441-ACC1-4503-9409-5E85A12E8415}" destId="{8F40F88B-A189-4377-A3F8-FF493880BF80}" srcOrd="0" destOrd="0" presId="urn:microsoft.com/office/officeart/2008/layout/LinedList"/>
    <dgm:cxn modelId="{DB1CB0AB-EDB8-4409-9757-77937B8A1494}" type="presParOf" srcId="{67219441-ACC1-4503-9409-5E85A12E8415}" destId="{850793CD-C56B-42E7-9CAA-03FA34FFB7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F17F2B-4D01-4C85-B045-34016A37B34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7382D8-EB1C-43EE-A1C9-1B1688558EED}">
      <dgm:prSet/>
      <dgm:spPr/>
      <dgm:t>
        <a:bodyPr/>
        <a:lstStyle/>
        <a:p>
          <a:r>
            <a:rPr lang="en-US" b="1"/>
            <a:t># Descriptive statistics</a:t>
          </a:r>
          <a:br>
            <a:rPr lang="en-US"/>
          </a:br>
          <a:r>
            <a:rPr lang="en-US"/>
            <a:t>data %&gt;%</a:t>
          </a:r>
          <a:br>
            <a:rPr lang="en-US"/>
          </a:br>
          <a:r>
            <a:rPr lang="en-US"/>
            <a:t>  group_by(Workout_Type) %&gt;%</a:t>
          </a:r>
          <a:br>
            <a:rPr lang="en-US"/>
          </a:br>
          <a:r>
            <a:rPr lang="en-US"/>
            <a:t>  get_summary_stats(Calories_Burned, type = "mean_sd")</a:t>
          </a:r>
        </a:p>
      </dgm:t>
    </dgm:pt>
    <dgm:pt modelId="{4D0D67E8-4F7B-415D-9B4F-914722B617E0}" type="parTrans" cxnId="{F3D8242C-2619-4B42-8A8A-EFCFC93B93D1}">
      <dgm:prSet/>
      <dgm:spPr/>
      <dgm:t>
        <a:bodyPr/>
        <a:lstStyle/>
        <a:p>
          <a:endParaRPr lang="en-US"/>
        </a:p>
      </dgm:t>
    </dgm:pt>
    <dgm:pt modelId="{81D9EC66-C35C-4368-9624-5B832490CE55}" type="sibTrans" cxnId="{F3D8242C-2619-4B42-8A8A-EFCFC93B93D1}">
      <dgm:prSet/>
      <dgm:spPr/>
      <dgm:t>
        <a:bodyPr/>
        <a:lstStyle/>
        <a:p>
          <a:endParaRPr lang="en-US"/>
        </a:p>
      </dgm:t>
    </dgm:pt>
    <dgm:pt modelId="{657C814A-53A9-4EED-AF00-2DACE81224C2}">
      <dgm:prSet/>
      <dgm:spPr/>
      <dgm:t>
        <a:bodyPr/>
        <a:lstStyle/>
        <a:p>
          <a:r>
            <a:rPr lang="en-US"/>
            <a:t>Displays the mean and standard deviation of calories burned for each workout type.</a:t>
          </a:r>
          <a:br>
            <a:rPr lang="en-US"/>
          </a:br>
          <a:br>
            <a:rPr lang="en-US"/>
          </a:br>
          <a:endParaRPr lang="en-US"/>
        </a:p>
      </dgm:t>
    </dgm:pt>
    <dgm:pt modelId="{94719034-2512-4D3E-A6A9-452A536A8B93}" type="parTrans" cxnId="{B866C116-049E-4ECB-9D98-9D75B6FCE78A}">
      <dgm:prSet/>
      <dgm:spPr/>
      <dgm:t>
        <a:bodyPr/>
        <a:lstStyle/>
        <a:p>
          <a:endParaRPr lang="en-US"/>
        </a:p>
      </dgm:t>
    </dgm:pt>
    <dgm:pt modelId="{A8ECE093-F361-4317-9268-AD5DA81AF032}" type="sibTrans" cxnId="{B866C116-049E-4ECB-9D98-9D75B6FCE78A}">
      <dgm:prSet/>
      <dgm:spPr/>
      <dgm:t>
        <a:bodyPr/>
        <a:lstStyle/>
        <a:p>
          <a:endParaRPr lang="en-US"/>
        </a:p>
      </dgm:t>
    </dgm:pt>
    <dgm:pt modelId="{D80EE221-E07C-42A7-83D3-C0E92790F536}" type="pres">
      <dgm:prSet presAssocID="{7BF17F2B-4D01-4C85-B045-34016A37B34A}" presName="outerComposite" presStyleCnt="0">
        <dgm:presLayoutVars>
          <dgm:chMax val="5"/>
          <dgm:dir/>
          <dgm:resizeHandles val="exact"/>
        </dgm:presLayoutVars>
      </dgm:prSet>
      <dgm:spPr/>
    </dgm:pt>
    <dgm:pt modelId="{C1345938-F39E-4C8F-8365-80F61214733F}" type="pres">
      <dgm:prSet presAssocID="{7BF17F2B-4D01-4C85-B045-34016A37B34A}" presName="dummyMaxCanvas" presStyleCnt="0">
        <dgm:presLayoutVars/>
      </dgm:prSet>
      <dgm:spPr/>
    </dgm:pt>
    <dgm:pt modelId="{192A8E78-E20A-44FA-81B2-5EDC7D1AAB36}" type="pres">
      <dgm:prSet presAssocID="{7BF17F2B-4D01-4C85-B045-34016A37B34A}" presName="TwoNodes_1" presStyleLbl="node1" presStyleIdx="0" presStyleCnt="2">
        <dgm:presLayoutVars>
          <dgm:bulletEnabled val="1"/>
        </dgm:presLayoutVars>
      </dgm:prSet>
      <dgm:spPr/>
    </dgm:pt>
    <dgm:pt modelId="{F277477B-7A3B-4A78-84FE-DDEE1E46903C}" type="pres">
      <dgm:prSet presAssocID="{7BF17F2B-4D01-4C85-B045-34016A37B34A}" presName="TwoNodes_2" presStyleLbl="node1" presStyleIdx="1" presStyleCnt="2">
        <dgm:presLayoutVars>
          <dgm:bulletEnabled val="1"/>
        </dgm:presLayoutVars>
      </dgm:prSet>
      <dgm:spPr/>
    </dgm:pt>
    <dgm:pt modelId="{B30E3A22-5497-4D36-BA4A-C530E35B3EC9}" type="pres">
      <dgm:prSet presAssocID="{7BF17F2B-4D01-4C85-B045-34016A37B34A}" presName="TwoConn_1-2" presStyleLbl="fgAccFollowNode1" presStyleIdx="0" presStyleCnt="1">
        <dgm:presLayoutVars>
          <dgm:bulletEnabled val="1"/>
        </dgm:presLayoutVars>
      </dgm:prSet>
      <dgm:spPr/>
    </dgm:pt>
    <dgm:pt modelId="{0C55C6DD-7A27-44C8-81E1-F449A59039B2}" type="pres">
      <dgm:prSet presAssocID="{7BF17F2B-4D01-4C85-B045-34016A37B34A}" presName="TwoNodes_1_text" presStyleLbl="node1" presStyleIdx="1" presStyleCnt="2">
        <dgm:presLayoutVars>
          <dgm:bulletEnabled val="1"/>
        </dgm:presLayoutVars>
      </dgm:prSet>
      <dgm:spPr/>
    </dgm:pt>
    <dgm:pt modelId="{039DF883-7752-4688-952F-7F257C35626A}" type="pres">
      <dgm:prSet presAssocID="{7BF17F2B-4D01-4C85-B045-34016A37B34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9DFBB07-DF75-45E2-B214-CF01CE73FCC0}" type="presOf" srcId="{7C7382D8-EB1C-43EE-A1C9-1B1688558EED}" destId="{192A8E78-E20A-44FA-81B2-5EDC7D1AAB36}" srcOrd="0" destOrd="0" presId="urn:microsoft.com/office/officeart/2005/8/layout/vProcess5"/>
    <dgm:cxn modelId="{B866C116-049E-4ECB-9D98-9D75B6FCE78A}" srcId="{7BF17F2B-4D01-4C85-B045-34016A37B34A}" destId="{657C814A-53A9-4EED-AF00-2DACE81224C2}" srcOrd="1" destOrd="0" parTransId="{94719034-2512-4D3E-A6A9-452A536A8B93}" sibTransId="{A8ECE093-F361-4317-9268-AD5DA81AF032}"/>
    <dgm:cxn modelId="{F092C31D-9640-44FA-A98E-124DDD503876}" type="presOf" srcId="{7BF17F2B-4D01-4C85-B045-34016A37B34A}" destId="{D80EE221-E07C-42A7-83D3-C0E92790F536}" srcOrd="0" destOrd="0" presId="urn:microsoft.com/office/officeart/2005/8/layout/vProcess5"/>
    <dgm:cxn modelId="{F3D8242C-2619-4B42-8A8A-EFCFC93B93D1}" srcId="{7BF17F2B-4D01-4C85-B045-34016A37B34A}" destId="{7C7382D8-EB1C-43EE-A1C9-1B1688558EED}" srcOrd="0" destOrd="0" parTransId="{4D0D67E8-4F7B-415D-9B4F-914722B617E0}" sibTransId="{81D9EC66-C35C-4368-9624-5B832490CE55}"/>
    <dgm:cxn modelId="{609FA052-7AC2-4C94-80E5-1532EB1D6883}" type="presOf" srcId="{81D9EC66-C35C-4368-9624-5B832490CE55}" destId="{B30E3A22-5497-4D36-BA4A-C530E35B3EC9}" srcOrd="0" destOrd="0" presId="urn:microsoft.com/office/officeart/2005/8/layout/vProcess5"/>
    <dgm:cxn modelId="{B9988E76-6BA2-43CE-92B5-1860A822F6E9}" type="presOf" srcId="{657C814A-53A9-4EED-AF00-2DACE81224C2}" destId="{F277477B-7A3B-4A78-84FE-DDEE1E46903C}" srcOrd="0" destOrd="0" presId="urn:microsoft.com/office/officeart/2005/8/layout/vProcess5"/>
    <dgm:cxn modelId="{A0260D8A-D72A-4E0E-9C43-164FE256E53E}" type="presOf" srcId="{657C814A-53A9-4EED-AF00-2DACE81224C2}" destId="{039DF883-7752-4688-952F-7F257C35626A}" srcOrd="1" destOrd="0" presId="urn:microsoft.com/office/officeart/2005/8/layout/vProcess5"/>
    <dgm:cxn modelId="{F90F3D8E-75B0-4417-B404-2B8DA5A13B9D}" type="presOf" srcId="{7C7382D8-EB1C-43EE-A1C9-1B1688558EED}" destId="{0C55C6DD-7A27-44C8-81E1-F449A59039B2}" srcOrd="1" destOrd="0" presId="urn:microsoft.com/office/officeart/2005/8/layout/vProcess5"/>
    <dgm:cxn modelId="{DCF31D9C-C015-4B3D-95CE-89AA1447A8A9}" type="presParOf" srcId="{D80EE221-E07C-42A7-83D3-C0E92790F536}" destId="{C1345938-F39E-4C8F-8365-80F61214733F}" srcOrd="0" destOrd="0" presId="urn:microsoft.com/office/officeart/2005/8/layout/vProcess5"/>
    <dgm:cxn modelId="{3F6757CB-0ABB-4E45-ADCC-D7E43CD65FAE}" type="presParOf" srcId="{D80EE221-E07C-42A7-83D3-C0E92790F536}" destId="{192A8E78-E20A-44FA-81B2-5EDC7D1AAB36}" srcOrd="1" destOrd="0" presId="urn:microsoft.com/office/officeart/2005/8/layout/vProcess5"/>
    <dgm:cxn modelId="{5A458A5A-BC98-4549-AE52-C1D86CCED641}" type="presParOf" srcId="{D80EE221-E07C-42A7-83D3-C0E92790F536}" destId="{F277477B-7A3B-4A78-84FE-DDEE1E46903C}" srcOrd="2" destOrd="0" presId="urn:microsoft.com/office/officeart/2005/8/layout/vProcess5"/>
    <dgm:cxn modelId="{53B7507D-4DD4-4345-B119-65EA0B58F939}" type="presParOf" srcId="{D80EE221-E07C-42A7-83D3-C0E92790F536}" destId="{B30E3A22-5497-4D36-BA4A-C530E35B3EC9}" srcOrd="3" destOrd="0" presId="urn:microsoft.com/office/officeart/2005/8/layout/vProcess5"/>
    <dgm:cxn modelId="{783B39CB-C951-42C1-B176-9E55F5498069}" type="presParOf" srcId="{D80EE221-E07C-42A7-83D3-C0E92790F536}" destId="{0C55C6DD-7A27-44C8-81E1-F449A59039B2}" srcOrd="4" destOrd="0" presId="urn:microsoft.com/office/officeart/2005/8/layout/vProcess5"/>
    <dgm:cxn modelId="{7E41C242-C22F-4EE3-8D36-8776E6ED4D27}" type="presParOf" srcId="{D80EE221-E07C-42A7-83D3-C0E92790F536}" destId="{039DF883-7752-4688-952F-7F257C35626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C2B42D-0721-4526-8A17-4566D6F4AF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3A22AA-03E7-41C1-BEEB-4D2AC25DC270}">
      <dgm:prSet/>
      <dgm:spPr/>
      <dgm:t>
        <a:bodyPr/>
        <a:lstStyle/>
        <a:p>
          <a:r>
            <a:rPr lang="en-US" b="1"/>
            <a:t>Output Summary:</a:t>
          </a:r>
          <a:endParaRPr lang="en-US"/>
        </a:p>
      </dgm:t>
    </dgm:pt>
    <dgm:pt modelId="{D2C63898-E21F-440B-95FF-632E7E18A934}" type="parTrans" cxnId="{585AC4DB-AD2A-48D3-B325-1461C89C978C}">
      <dgm:prSet/>
      <dgm:spPr/>
      <dgm:t>
        <a:bodyPr/>
        <a:lstStyle/>
        <a:p>
          <a:endParaRPr lang="en-US"/>
        </a:p>
      </dgm:t>
    </dgm:pt>
    <dgm:pt modelId="{A261E5C0-0CA8-419A-BD37-DA7190017BA5}" type="sibTrans" cxnId="{585AC4DB-AD2A-48D3-B325-1461C89C978C}">
      <dgm:prSet/>
      <dgm:spPr/>
      <dgm:t>
        <a:bodyPr/>
        <a:lstStyle/>
        <a:p>
          <a:endParaRPr lang="en-US"/>
        </a:p>
      </dgm:t>
    </dgm:pt>
    <dgm:pt modelId="{6CC5E1DF-0DD1-489E-B489-2A385439F8D9}">
      <dgm:prSet/>
      <dgm:spPr/>
      <dgm:t>
        <a:bodyPr/>
        <a:lstStyle/>
        <a:p>
          <a:r>
            <a:rPr lang="en-US"/>
            <a:t>·  ANOVA showed a significant difference in fat percentage across workout frequencies (F(3, 969) = 211.52, p &lt; 0.001).</a:t>
          </a:r>
        </a:p>
      </dgm:t>
    </dgm:pt>
    <dgm:pt modelId="{EA16DAA3-FB00-4EE7-B841-C0C6CA637ED1}" type="parTrans" cxnId="{9A9135D2-B8BC-462A-8D52-BF42FBE7AC92}">
      <dgm:prSet/>
      <dgm:spPr/>
      <dgm:t>
        <a:bodyPr/>
        <a:lstStyle/>
        <a:p>
          <a:endParaRPr lang="en-US"/>
        </a:p>
      </dgm:t>
    </dgm:pt>
    <dgm:pt modelId="{BD32543B-FE4D-4BC3-A56F-04BE02EE65BC}" type="sibTrans" cxnId="{9A9135D2-B8BC-462A-8D52-BF42FBE7AC92}">
      <dgm:prSet/>
      <dgm:spPr/>
      <dgm:t>
        <a:bodyPr/>
        <a:lstStyle/>
        <a:p>
          <a:endParaRPr lang="en-US"/>
        </a:p>
      </dgm:t>
    </dgm:pt>
    <dgm:pt modelId="{4744205B-4932-4363-BB75-7DA55751FF05}">
      <dgm:prSet/>
      <dgm:spPr/>
      <dgm:t>
        <a:bodyPr/>
        <a:lstStyle/>
        <a:p>
          <a:r>
            <a:rPr lang="en-US"/>
            <a:t>·  Post-hoc tests revealed that those working out 4–5 days/week had significantly lower fat % than those working out 2–3 days/week.</a:t>
          </a:r>
        </a:p>
      </dgm:t>
    </dgm:pt>
    <dgm:pt modelId="{1F615E90-4EF2-4EBE-8B58-2DDEABAEC8A1}" type="parTrans" cxnId="{E68CAA2C-2C68-4B0D-B07E-081F8A97605B}">
      <dgm:prSet/>
      <dgm:spPr/>
      <dgm:t>
        <a:bodyPr/>
        <a:lstStyle/>
        <a:p>
          <a:endParaRPr lang="en-US"/>
        </a:p>
      </dgm:t>
    </dgm:pt>
    <dgm:pt modelId="{3662F88E-63B4-4730-B0E9-338E52AFB54A}" type="sibTrans" cxnId="{E68CAA2C-2C68-4B0D-B07E-081F8A97605B}">
      <dgm:prSet/>
      <dgm:spPr/>
      <dgm:t>
        <a:bodyPr/>
        <a:lstStyle/>
        <a:p>
          <a:endParaRPr lang="en-US"/>
        </a:p>
      </dgm:t>
    </dgm:pt>
    <dgm:pt modelId="{BAA6ADE7-0454-4AB2-A0A4-B069806BE032}">
      <dgm:prSet/>
      <dgm:spPr/>
      <dgm:t>
        <a:bodyPr/>
        <a:lstStyle/>
        <a:p>
          <a:r>
            <a:rPr lang="en-US"/>
            <a:t>·  No difference found between 2 and 3 days/week (p = 0.986).</a:t>
          </a:r>
        </a:p>
      </dgm:t>
    </dgm:pt>
    <dgm:pt modelId="{DB3EE447-A747-4465-BB2E-CE32690CEBD7}" type="parTrans" cxnId="{923F92F7-EC3E-4DEB-9D2F-4EC17E08C5A2}">
      <dgm:prSet/>
      <dgm:spPr/>
      <dgm:t>
        <a:bodyPr/>
        <a:lstStyle/>
        <a:p>
          <a:endParaRPr lang="en-US"/>
        </a:p>
      </dgm:t>
    </dgm:pt>
    <dgm:pt modelId="{2F176601-250B-49C2-9ADC-EEF5429BF791}" type="sibTrans" cxnId="{923F92F7-EC3E-4DEB-9D2F-4EC17E08C5A2}">
      <dgm:prSet/>
      <dgm:spPr/>
      <dgm:t>
        <a:bodyPr/>
        <a:lstStyle/>
        <a:p>
          <a:endParaRPr lang="en-US"/>
        </a:p>
      </dgm:t>
    </dgm:pt>
    <dgm:pt modelId="{332CDEEA-09D5-4460-94C4-5A1D4D172889}" type="pres">
      <dgm:prSet presAssocID="{9EC2B42D-0721-4526-8A17-4566D6F4AF35}" presName="linear" presStyleCnt="0">
        <dgm:presLayoutVars>
          <dgm:animLvl val="lvl"/>
          <dgm:resizeHandles val="exact"/>
        </dgm:presLayoutVars>
      </dgm:prSet>
      <dgm:spPr/>
    </dgm:pt>
    <dgm:pt modelId="{FBF74795-77A7-40CC-84A6-CF7E832CEC36}" type="pres">
      <dgm:prSet presAssocID="{9B3A22AA-03E7-41C1-BEEB-4D2AC25DC2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E36002F-4A75-46AD-B194-B7714DAE7A77}" type="pres">
      <dgm:prSet presAssocID="{A261E5C0-0CA8-419A-BD37-DA7190017BA5}" presName="spacer" presStyleCnt="0"/>
      <dgm:spPr/>
    </dgm:pt>
    <dgm:pt modelId="{E6D6D52D-6F27-40B0-A153-D42110AD7DF6}" type="pres">
      <dgm:prSet presAssocID="{6CC5E1DF-0DD1-489E-B489-2A385439F8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137204-4CBC-4E16-99EE-93C69962FFED}" type="pres">
      <dgm:prSet presAssocID="{BD32543B-FE4D-4BC3-A56F-04BE02EE65BC}" presName="spacer" presStyleCnt="0"/>
      <dgm:spPr/>
    </dgm:pt>
    <dgm:pt modelId="{2B70AA2F-C617-41CB-9677-B80423DC7DD2}" type="pres">
      <dgm:prSet presAssocID="{4744205B-4932-4363-BB75-7DA55751FF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5D8DB5-503E-4920-B2B3-85D99BD107CA}" type="pres">
      <dgm:prSet presAssocID="{3662F88E-63B4-4730-B0E9-338E52AFB54A}" presName="spacer" presStyleCnt="0"/>
      <dgm:spPr/>
    </dgm:pt>
    <dgm:pt modelId="{40B6E993-6260-4FF0-879A-ADA867BBC3F8}" type="pres">
      <dgm:prSet presAssocID="{BAA6ADE7-0454-4AB2-A0A4-B069806BE03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68CAA2C-2C68-4B0D-B07E-081F8A97605B}" srcId="{9EC2B42D-0721-4526-8A17-4566D6F4AF35}" destId="{4744205B-4932-4363-BB75-7DA55751FF05}" srcOrd="2" destOrd="0" parTransId="{1F615E90-4EF2-4EBE-8B58-2DDEABAEC8A1}" sibTransId="{3662F88E-63B4-4730-B0E9-338E52AFB54A}"/>
    <dgm:cxn modelId="{CCC9A688-EC15-4ABB-A21A-9B457EE8C7B6}" type="presOf" srcId="{9B3A22AA-03E7-41C1-BEEB-4D2AC25DC270}" destId="{FBF74795-77A7-40CC-84A6-CF7E832CEC36}" srcOrd="0" destOrd="0" presId="urn:microsoft.com/office/officeart/2005/8/layout/vList2"/>
    <dgm:cxn modelId="{9611E39F-DFBC-410A-ACB0-CA125B09BCAD}" type="presOf" srcId="{BAA6ADE7-0454-4AB2-A0A4-B069806BE032}" destId="{40B6E993-6260-4FF0-879A-ADA867BBC3F8}" srcOrd="0" destOrd="0" presId="urn:microsoft.com/office/officeart/2005/8/layout/vList2"/>
    <dgm:cxn modelId="{C9BE41C2-A8E9-4445-9DD2-CF04FA63C2EB}" type="presOf" srcId="{6CC5E1DF-0DD1-489E-B489-2A385439F8D9}" destId="{E6D6D52D-6F27-40B0-A153-D42110AD7DF6}" srcOrd="0" destOrd="0" presId="urn:microsoft.com/office/officeart/2005/8/layout/vList2"/>
    <dgm:cxn modelId="{9A9135D2-B8BC-462A-8D52-BF42FBE7AC92}" srcId="{9EC2B42D-0721-4526-8A17-4566D6F4AF35}" destId="{6CC5E1DF-0DD1-489E-B489-2A385439F8D9}" srcOrd="1" destOrd="0" parTransId="{EA16DAA3-FB00-4EE7-B841-C0C6CA637ED1}" sibTransId="{BD32543B-FE4D-4BC3-A56F-04BE02EE65BC}"/>
    <dgm:cxn modelId="{585AC4DB-AD2A-48D3-B325-1461C89C978C}" srcId="{9EC2B42D-0721-4526-8A17-4566D6F4AF35}" destId="{9B3A22AA-03E7-41C1-BEEB-4D2AC25DC270}" srcOrd="0" destOrd="0" parTransId="{D2C63898-E21F-440B-95FF-632E7E18A934}" sibTransId="{A261E5C0-0CA8-419A-BD37-DA7190017BA5}"/>
    <dgm:cxn modelId="{29069BEB-0F25-41D6-9028-15D268FFFA03}" type="presOf" srcId="{9EC2B42D-0721-4526-8A17-4566D6F4AF35}" destId="{332CDEEA-09D5-4460-94C4-5A1D4D172889}" srcOrd="0" destOrd="0" presId="urn:microsoft.com/office/officeart/2005/8/layout/vList2"/>
    <dgm:cxn modelId="{82EBACF0-4256-455B-A55A-AF3EB8E29AA6}" type="presOf" srcId="{4744205B-4932-4363-BB75-7DA55751FF05}" destId="{2B70AA2F-C617-41CB-9677-B80423DC7DD2}" srcOrd="0" destOrd="0" presId="urn:microsoft.com/office/officeart/2005/8/layout/vList2"/>
    <dgm:cxn modelId="{923F92F7-EC3E-4DEB-9D2F-4EC17E08C5A2}" srcId="{9EC2B42D-0721-4526-8A17-4566D6F4AF35}" destId="{BAA6ADE7-0454-4AB2-A0A4-B069806BE032}" srcOrd="3" destOrd="0" parTransId="{DB3EE447-A747-4465-BB2E-CE32690CEBD7}" sibTransId="{2F176601-250B-49C2-9ADC-EEF5429BF791}"/>
    <dgm:cxn modelId="{C78792A7-7EF2-4250-8C6A-637D3F5CF3EF}" type="presParOf" srcId="{332CDEEA-09D5-4460-94C4-5A1D4D172889}" destId="{FBF74795-77A7-40CC-84A6-CF7E832CEC36}" srcOrd="0" destOrd="0" presId="urn:microsoft.com/office/officeart/2005/8/layout/vList2"/>
    <dgm:cxn modelId="{4793C5FD-F23C-43EE-AD02-39F5D61E281E}" type="presParOf" srcId="{332CDEEA-09D5-4460-94C4-5A1D4D172889}" destId="{1E36002F-4A75-46AD-B194-B7714DAE7A77}" srcOrd="1" destOrd="0" presId="urn:microsoft.com/office/officeart/2005/8/layout/vList2"/>
    <dgm:cxn modelId="{3C9E489E-E33A-4A9E-ADA4-DF9A27DC6553}" type="presParOf" srcId="{332CDEEA-09D5-4460-94C4-5A1D4D172889}" destId="{E6D6D52D-6F27-40B0-A153-D42110AD7DF6}" srcOrd="2" destOrd="0" presId="urn:microsoft.com/office/officeart/2005/8/layout/vList2"/>
    <dgm:cxn modelId="{BBEF99C6-70F7-4408-9CA4-383FDB4BFDE1}" type="presParOf" srcId="{332CDEEA-09D5-4460-94C4-5A1D4D172889}" destId="{3C137204-4CBC-4E16-99EE-93C69962FFED}" srcOrd="3" destOrd="0" presId="urn:microsoft.com/office/officeart/2005/8/layout/vList2"/>
    <dgm:cxn modelId="{2136E442-4C12-4CB0-B0BA-05AB22E8BA1E}" type="presParOf" srcId="{332CDEEA-09D5-4460-94C4-5A1D4D172889}" destId="{2B70AA2F-C617-41CB-9677-B80423DC7DD2}" srcOrd="4" destOrd="0" presId="urn:microsoft.com/office/officeart/2005/8/layout/vList2"/>
    <dgm:cxn modelId="{D7B9C138-A8C4-4A74-BFAB-45CEF9F3610C}" type="presParOf" srcId="{332CDEEA-09D5-4460-94C4-5A1D4D172889}" destId="{895D8DB5-503E-4920-B2B3-85D99BD107CA}" srcOrd="5" destOrd="0" presId="urn:microsoft.com/office/officeart/2005/8/layout/vList2"/>
    <dgm:cxn modelId="{C9BF462B-8379-463E-A327-2297D692D4B6}" type="presParOf" srcId="{332CDEEA-09D5-4460-94C4-5A1D4D172889}" destId="{40B6E993-6260-4FF0-879A-ADA867BBC3F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89D743-5852-A54A-B0AE-CC810A5BEDAB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226EF0-5562-1D44-8F36-D4E3ECECA26E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Calories Burned by Workout Type</a:t>
          </a:r>
        </a:p>
        <a:p>
          <a:pPr>
            <a:buNone/>
          </a:pPr>
          <a:r>
            <a:rPr lang="en-US" sz="1400" dirty="0"/>
            <a:t>• ANOVA Test Result: F(3, 969) = 0.949, p = 0.416</a:t>
          </a:r>
        </a:p>
        <a:p>
          <a:pPr>
            <a:buNone/>
          </a:pPr>
          <a:r>
            <a:rPr lang="en-US" sz="1400" dirty="0"/>
            <a:t>• Conclusion: Not statistically significant</a:t>
          </a:r>
        </a:p>
        <a:p>
          <a:r>
            <a:rPr lang="en-US" sz="1400" dirty="0"/>
            <a:t>• No meaningful difference in calories burned across different workout types.</a:t>
          </a:r>
        </a:p>
      </dgm:t>
    </dgm:pt>
    <dgm:pt modelId="{80260CD3-908D-9B47-A8C8-A08891DEBEB4}" type="parTrans" cxnId="{155CA483-6B3E-2D4A-9488-1677A72CEC87}">
      <dgm:prSet/>
      <dgm:spPr/>
      <dgm:t>
        <a:bodyPr/>
        <a:lstStyle/>
        <a:p>
          <a:endParaRPr lang="en-US"/>
        </a:p>
      </dgm:t>
    </dgm:pt>
    <dgm:pt modelId="{268BE7C7-B480-024C-8682-D0ACBCC36AF4}" type="sibTrans" cxnId="{155CA483-6B3E-2D4A-9488-1677A72CEC87}">
      <dgm:prSet/>
      <dgm:spPr/>
      <dgm:t>
        <a:bodyPr/>
        <a:lstStyle/>
        <a:p>
          <a:endParaRPr lang="en-US"/>
        </a:p>
      </dgm:t>
    </dgm:pt>
    <dgm:pt modelId="{95220B5C-8992-F640-B22C-B48BA79D4AF1}">
      <dgm:prSet/>
      <dgm:spPr/>
      <dgm:t>
        <a:bodyPr/>
        <a:lstStyle/>
        <a:p>
          <a:pPr algn="l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Fat Percentage by Workout Frequency</a:t>
          </a:r>
        </a:p>
        <a:p>
          <a:pPr algn="l"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ANOVA Test Result: F(3, 969) = 211.52, p &lt; 0.001</a:t>
          </a:r>
        </a:p>
        <a:p>
          <a:pPr algn="l">
            <a:buNone/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Conclusion: Statistically significant</a:t>
          </a:r>
        </a:p>
        <a:p>
          <a:pPr algn="ju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Fat percentage varied significantly based on how frequently participants exercised.</a:t>
          </a:r>
        </a:p>
      </dgm:t>
    </dgm:pt>
    <dgm:pt modelId="{29D7E16F-D7FF-764B-BF07-DCD51B2F2A27}" type="parTrans" cxnId="{FEF8B607-FB1E-4F48-B133-8348B046D335}">
      <dgm:prSet/>
      <dgm:spPr/>
      <dgm:t>
        <a:bodyPr/>
        <a:lstStyle/>
        <a:p>
          <a:endParaRPr lang="en-US"/>
        </a:p>
      </dgm:t>
    </dgm:pt>
    <dgm:pt modelId="{E026DB08-194C-1342-8FBC-5F42D94467F6}" type="sibTrans" cxnId="{FEF8B607-FB1E-4F48-B133-8348B046D335}">
      <dgm:prSet/>
      <dgm:spPr/>
      <dgm:t>
        <a:bodyPr/>
        <a:lstStyle/>
        <a:p>
          <a:endParaRPr lang="en-US"/>
        </a:p>
      </dgm:t>
    </dgm:pt>
    <dgm:pt modelId="{12FEE836-5E79-6841-9F4C-6619BB705179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Takeaway:</a:t>
          </a:r>
        </a:p>
        <a:p>
          <a:pPr>
            <a:buNone/>
          </a:pPr>
          <a:endParaRPr lang="en-US" sz="1300" dirty="0"/>
        </a:p>
        <a:p>
          <a:pPr>
            <a:buNone/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Workout type does not significantly affect calories burned.</a:t>
          </a:r>
        </a:p>
        <a:p>
          <a:pPr>
            <a:buNone/>
          </a:pPr>
          <a:b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However, workout frequency has a strong effect on body fat percentage.</a:t>
          </a:r>
        </a:p>
        <a:p>
          <a:pPr>
            <a:buNone/>
          </a:pPr>
          <a:b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Fat percentage is more clearly impacted by group differences than calories burned</a:t>
          </a:r>
          <a:r>
            <a:rPr lang="en-US" sz="1800" dirty="0"/>
            <a:t>.</a:t>
          </a:r>
        </a:p>
      </dgm:t>
    </dgm:pt>
    <dgm:pt modelId="{A0819A62-47BA-1745-AFE0-6E9E8D2304B3}" type="parTrans" cxnId="{24312B01-2C13-804E-BBE5-AA86DED4649D}">
      <dgm:prSet/>
      <dgm:spPr/>
      <dgm:t>
        <a:bodyPr/>
        <a:lstStyle/>
        <a:p>
          <a:endParaRPr lang="en-US"/>
        </a:p>
      </dgm:t>
    </dgm:pt>
    <dgm:pt modelId="{113D7C0B-2281-0445-B3D6-E2E3E6E5475E}" type="sibTrans" cxnId="{24312B01-2C13-804E-BBE5-AA86DED4649D}">
      <dgm:prSet/>
      <dgm:spPr/>
      <dgm:t>
        <a:bodyPr/>
        <a:lstStyle/>
        <a:p>
          <a:endParaRPr lang="en-US"/>
        </a:p>
      </dgm:t>
    </dgm:pt>
    <dgm:pt modelId="{1C6857FE-A050-E047-9869-8259BEBBE2D5}" type="pres">
      <dgm:prSet presAssocID="{5289D743-5852-A54A-B0AE-CC810A5BEDAB}" presName="outerComposite" presStyleCnt="0">
        <dgm:presLayoutVars>
          <dgm:chMax val="5"/>
          <dgm:dir/>
          <dgm:resizeHandles val="exact"/>
        </dgm:presLayoutVars>
      </dgm:prSet>
      <dgm:spPr/>
    </dgm:pt>
    <dgm:pt modelId="{95BCEFDD-B274-A74B-A08A-FC6378196AC4}" type="pres">
      <dgm:prSet presAssocID="{5289D743-5852-A54A-B0AE-CC810A5BEDAB}" presName="dummyMaxCanvas" presStyleCnt="0">
        <dgm:presLayoutVars/>
      </dgm:prSet>
      <dgm:spPr/>
    </dgm:pt>
    <dgm:pt modelId="{BB9FBF28-D852-C449-A1F4-921B140DED94}" type="pres">
      <dgm:prSet presAssocID="{5289D743-5852-A54A-B0AE-CC810A5BEDAB}" presName="ThreeNodes_1" presStyleLbl="node1" presStyleIdx="0" presStyleCnt="3" custScaleY="90569">
        <dgm:presLayoutVars>
          <dgm:bulletEnabled val="1"/>
        </dgm:presLayoutVars>
      </dgm:prSet>
      <dgm:spPr/>
    </dgm:pt>
    <dgm:pt modelId="{623CCABC-562A-8C4B-B5C0-6EB50DA1165A}" type="pres">
      <dgm:prSet presAssocID="{5289D743-5852-A54A-B0AE-CC810A5BEDAB}" presName="ThreeNodes_2" presStyleLbl="node1" presStyleIdx="1" presStyleCnt="3" custLinFactNeighborX="-8" custLinFactNeighborY="-6266">
        <dgm:presLayoutVars>
          <dgm:bulletEnabled val="1"/>
        </dgm:presLayoutVars>
      </dgm:prSet>
      <dgm:spPr/>
    </dgm:pt>
    <dgm:pt modelId="{518718AB-6C82-5842-BAA1-B77CE209E1F8}" type="pres">
      <dgm:prSet presAssocID="{5289D743-5852-A54A-B0AE-CC810A5BEDAB}" presName="ThreeNodes_3" presStyleLbl="node1" presStyleIdx="2" presStyleCnt="3" custScaleX="105684" custScaleY="118858">
        <dgm:presLayoutVars>
          <dgm:bulletEnabled val="1"/>
        </dgm:presLayoutVars>
      </dgm:prSet>
      <dgm:spPr/>
    </dgm:pt>
    <dgm:pt modelId="{9DCA0347-9AAE-FC4D-AA82-9CEF60CE99BF}" type="pres">
      <dgm:prSet presAssocID="{5289D743-5852-A54A-B0AE-CC810A5BEDAB}" presName="ThreeConn_1-2" presStyleLbl="fgAccFollowNode1" presStyleIdx="0" presStyleCnt="2">
        <dgm:presLayoutVars>
          <dgm:bulletEnabled val="1"/>
        </dgm:presLayoutVars>
      </dgm:prSet>
      <dgm:spPr/>
    </dgm:pt>
    <dgm:pt modelId="{4DD13490-696B-8E4E-A329-68B2972B7F20}" type="pres">
      <dgm:prSet presAssocID="{5289D743-5852-A54A-B0AE-CC810A5BEDAB}" presName="ThreeConn_2-3" presStyleLbl="fgAccFollowNode1" presStyleIdx="1" presStyleCnt="2">
        <dgm:presLayoutVars>
          <dgm:bulletEnabled val="1"/>
        </dgm:presLayoutVars>
      </dgm:prSet>
      <dgm:spPr/>
    </dgm:pt>
    <dgm:pt modelId="{779CAC56-0FD4-CC40-9A05-14E567AEBE8A}" type="pres">
      <dgm:prSet presAssocID="{5289D743-5852-A54A-B0AE-CC810A5BEDAB}" presName="ThreeNodes_1_text" presStyleLbl="node1" presStyleIdx="2" presStyleCnt="3">
        <dgm:presLayoutVars>
          <dgm:bulletEnabled val="1"/>
        </dgm:presLayoutVars>
      </dgm:prSet>
      <dgm:spPr/>
    </dgm:pt>
    <dgm:pt modelId="{97E51FC8-4055-1A4D-A9E8-12495A799909}" type="pres">
      <dgm:prSet presAssocID="{5289D743-5852-A54A-B0AE-CC810A5BEDAB}" presName="ThreeNodes_2_text" presStyleLbl="node1" presStyleIdx="2" presStyleCnt="3">
        <dgm:presLayoutVars>
          <dgm:bulletEnabled val="1"/>
        </dgm:presLayoutVars>
      </dgm:prSet>
      <dgm:spPr/>
    </dgm:pt>
    <dgm:pt modelId="{58721593-3548-E245-9EF8-88A19E559A97}" type="pres">
      <dgm:prSet presAssocID="{5289D743-5852-A54A-B0AE-CC810A5BEDAB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4312B01-2C13-804E-BBE5-AA86DED4649D}" srcId="{5289D743-5852-A54A-B0AE-CC810A5BEDAB}" destId="{12FEE836-5E79-6841-9F4C-6619BB705179}" srcOrd="2" destOrd="0" parTransId="{A0819A62-47BA-1745-AFE0-6E9E8D2304B3}" sibTransId="{113D7C0B-2281-0445-B3D6-E2E3E6E5475E}"/>
    <dgm:cxn modelId="{FEF8B607-FB1E-4F48-B133-8348B046D335}" srcId="{5289D743-5852-A54A-B0AE-CC810A5BEDAB}" destId="{95220B5C-8992-F640-B22C-B48BA79D4AF1}" srcOrd="1" destOrd="0" parTransId="{29D7E16F-D7FF-764B-BF07-DCD51B2F2A27}" sibTransId="{E026DB08-194C-1342-8FBC-5F42D94467F6}"/>
    <dgm:cxn modelId="{F5F76021-E5E9-A643-AA44-D743BAA38C67}" type="presOf" srcId="{268BE7C7-B480-024C-8682-D0ACBCC36AF4}" destId="{9DCA0347-9AAE-FC4D-AA82-9CEF60CE99BF}" srcOrd="0" destOrd="0" presId="urn:microsoft.com/office/officeart/2005/8/layout/vProcess5"/>
    <dgm:cxn modelId="{DFFED533-D6E3-0F44-A123-41F3B652AB17}" type="presOf" srcId="{95220B5C-8992-F640-B22C-B48BA79D4AF1}" destId="{623CCABC-562A-8C4B-B5C0-6EB50DA1165A}" srcOrd="0" destOrd="0" presId="urn:microsoft.com/office/officeart/2005/8/layout/vProcess5"/>
    <dgm:cxn modelId="{A4492B6D-18FC-994A-9512-926D29C79A12}" type="presOf" srcId="{12FEE836-5E79-6841-9F4C-6619BB705179}" destId="{58721593-3548-E245-9EF8-88A19E559A97}" srcOrd="1" destOrd="0" presId="urn:microsoft.com/office/officeart/2005/8/layout/vProcess5"/>
    <dgm:cxn modelId="{EE422772-82C5-A64E-A2D8-C48012DB0C6D}" type="presOf" srcId="{12FEE836-5E79-6841-9F4C-6619BB705179}" destId="{518718AB-6C82-5842-BAA1-B77CE209E1F8}" srcOrd="0" destOrd="0" presId="urn:microsoft.com/office/officeart/2005/8/layout/vProcess5"/>
    <dgm:cxn modelId="{155CA483-6B3E-2D4A-9488-1677A72CEC87}" srcId="{5289D743-5852-A54A-B0AE-CC810A5BEDAB}" destId="{61226EF0-5562-1D44-8F36-D4E3ECECA26E}" srcOrd="0" destOrd="0" parTransId="{80260CD3-908D-9B47-A8C8-A08891DEBEB4}" sibTransId="{268BE7C7-B480-024C-8682-D0ACBCC36AF4}"/>
    <dgm:cxn modelId="{227AE590-E2EE-8647-976A-279663D4EA3A}" type="presOf" srcId="{E026DB08-194C-1342-8FBC-5F42D94467F6}" destId="{4DD13490-696B-8E4E-A329-68B2972B7F20}" srcOrd="0" destOrd="0" presId="urn:microsoft.com/office/officeart/2005/8/layout/vProcess5"/>
    <dgm:cxn modelId="{CA8146A5-7A20-3046-B14E-A7E2D4561D45}" type="presOf" srcId="{95220B5C-8992-F640-B22C-B48BA79D4AF1}" destId="{97E51FC8-4055-1A4D-A9E8-12495A799909}" srcOrd="1" destOrd="0" presId="urn:microsoft.com/office/officeart/2005/8/layout/vProcess5"/>
    <dgm:cxn modelId="{50D183A5-09FF-A44A-BEF1-710D54D1EE1D}" type="presOf" srcId="{61226EF0-5562-1D44-8F36-D4E3ECECA26E}" destId="{779CAC56-0FD4-CC40-9A05-14E567AEBE8A}" srcOrd="1" destOrd="0" presId="urn:microsoft.com/office/officeart/2005/8/layout/vProcess5"/>
    <dgm:cxn modelId="{9061D6AF-C926-2843-B85D-A32A3C4E59C9}" type="presOf" srcId="{61226EF0-5562-1D44-8F36-D4E3ECECA26E}" destId="{BB9FBF28-D852-C449-A1F4-921B140DED94}" srcOrd="0" destOrd="0" presId="urn:microsoft.com/office/officeart/2005/8/layout/vProcess5"/>
    <dgm:cxn modelId="{D72F81E0-A3F0-7643-8C7B-1EFDA53CCE96}" type="presOf" srcId="{5289D743-5852-A54A-B0AE-CC810A5BEDAB}" destId="{1C6857FE-A050-E047-9869-8259BEBBE2D5}" srcOrd="0" destOrd="0" presId="urn:microsoft.com/office/officeart/2005/8/layout/vProcess5"/>
    <dgm:cxn modelId="{E7E5E850-916D-174A-9E50-092EED60DA8E}" type="presParOf" srcId="{1C6857FE-A050-E047-9869-8259BEBBE2D5}" destId="{95BCEFDD-B274-A74B-A08A-FC6378196AC4}" srcOrd="0" destOrd="0" presId="urn:microsoft.com/office/officeart/2005/8/layout/vProcess5"/>
    <dgm:cxn modelId="{0F746EE2-65DA-F540-ABB0-F14FA62DA0BD}" type="presParOf" srcId="{1C6857FE-A050-E047-9869-8259BEBBE2D5}" destId="{BB9FBF28-D852-C449-A1F4-921B140DED94}" srcOrd="1" destOrd="0" presId="urn:microsoft.com/office/officeart/2005/8/layout/vProcess5"/>
    <dgm:cxn modelId="{89CE6A0B-6F06-7841-B39C-48FEB1D3A75A}" type="presParOf" srcId="{1C6857FE-A050-E047-9869-8259BEBBE2D5}" destId="{623CCABC-562A-8C4B-B5C0-6EB50DA1165A}" srcOrd="2" destOrd="0" presId="urn:microsoft.com/office/officeart/2005/8/layout/vProcess5"/>
    <dgm:cxn modelId="{0DE4154F-FCA8-3948-9A65-0571A2B1A44D}" type="presParOf" srcId="{1C6857FE-A050-E047-9869-8259BEBBE2D5}" destId="{518718AB-6C82-5842-BAA1-B77CE209E1F8}" srcOrd="3" destOrd="0" presId="urn:microsoft.com/office/officeart/2005/8/layout/vProcess5"/>
    <dgm:cxn modelId="{9C86D0B7-D169-9A44-8296-62607367D30A}" type="presParOf" srcId="{1C6857FE-A050-E047-9869-8259BEBBE2D5}" destId="{9DCA0347-9AAE-FC4D-AA82-9CEF60CE99BF}" srcOrd="4" destOrd="0" presId="urn:microsoft.com/office/officeart/2005/8/layout/vProcess5"/>
    <dgm:cxn modelId="{B6E2B201-FAAD-6F46-86FC-64C7C30F0667}" type="presParOf" srcId="{1C6857FE-A050-E047-9869-8259BEBBE2D5}" destId="{4DD13490-696B-8E4E-A329-68B2972B7F20}" srcOrd="5" destOrd="0" presId="urn:microsoft.com/office/officeart/2005/8/layout/vProcess5"/>
    <dgm:cxn modelId="{39E7B7B7-CBEC-B341-82D8-F19D5CFEE5FB}" type="presParOf" srcId="{1C6857FE-A050-E047-9869-8259BEBBE2D5}" destId="{779CAC56-0FD4-CC40-9A05-14E567AEBE8A}" srcOrd="6" destOrd="0" presId="urn:microsoft.com/office/officeart/2005/8/layout/vProcess5"/>
    <dgm:cxn modelId="{B2F70584-40F5-5840-AF79-26E22E3E75E2}" type="presParOf" srcId="{1C6857FE-A050-E047-9869-8259BEBBE2D5}" destId="{97E51FC8-4055-1A4D-A9E8-12495A799909}" srcOrd="7" destOrd="0" presId="urn:microsoft.com/office/officeart/2005/8/layout/vProcess5"/>
    <dgm:cxn modelId="{13B1E738-1D50-3B40-A814-0574897F05CF}" type="presParOf" srcId="{1C6857FE-A050-E047-9869-8259BEBBE2D5}" destId="{58721593-3548-E245-9EF8-88A19E559A9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D6FA1C-7268-417F-84F8-60A48E10368C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2B82A43-2C30-44E0-B362-C6A90B406627}">
      <dgm:prSet/>
      <dgm:spPr/>
      <dgm:t>
        <a:bodyPr/>
        <a:lstStyle/>
        <a:p>
          <a:r>
            <a:rPr lang="en-US"/>
            <a:t>Learned to apply ANOVA and MLR with real-world data in R</a:t>
          </a:r>
        </a:p>
      </dgm:t>
    </dgm:pt>
    <dgm:pt modelId="{4252230B-7241-4603-AFE8-91EE8F05CE48}" type="parTrans" cxnId="{F3C933EB-4F54-4DB6-8A1A-1B5A0C6A5E23}">
      <dgm:prSet/>
      <dgm:spPr/>
      <dgm:t>
        <a:bodyPr/>
        <a:lstStyle/>
        <a:p>
          <a:endParaRPr lang="en-US"/>
        </a:p>
      </dgm:t>
    </dgm:pt>
    <dgm:pt modelId="{A97044BC-D799-4664-AA54-0368F32A49D6}" type="sibTrans" cxnId="{F3C933EB-4F54-4DB6-8A1A-1B5A0C6A5E23}">
      <dgm:prSet/>
      <dgm:spPr/>
      <dgm:t>
        <a:bodyPr/>
        <a:lstStyle/>
        <a:p>
          <a:endParaRPr lang="en-US"/>
        </a:p>
      </dgm:t>
    </dgm:pt>
    <dgm:pt modelId="{945BEA7B-5EE7-42A2-B2C9-91DA21642B7F}">
      <dgm:prSet/>
      <dgm:spPr/>
      <dgm:t>
        <a:bodyPr/>
        <a:lstStyle/>
        <a:p>
          <a:r>
            <a:rPr lang="en-US"/>
            <a:t>Understood the importance of checking assumptions (normality, variance)</a:t>
          </a:r>
        </a:p>
      </dgm:t>
    </dgm:pt>
    <dgm:pt modelId="{5BCDE94A-5A87-4BCB-9439-DFF2FFE2CD1A}" type="parTrans" cxnId="{165361E5-72A8-4144-B483-1671FC694A03}">
      <dgm:prSet/>
      <dgm:spPr/>
      <dgm:t>
        <a:bodyPr/>
        <a:lstStyle/>
        <a:p>
          <a:endParaRPr lang="en-US"/>
        </a:p>
      </dgm:t>
    </dgm:pt>
    <dgm:pt modelId="{62604CE4-E8F0-453F-8599-ADDC57D25DA0}" type="sibTrans" cxnId="{165361E5-72A8-4144-B483-1671FC694A03}">
      <dgm:prSet/>
      <dgm:spPr/>
      <dgm:t>
        <a:bodyPr/>
        <a:lstStyle/>
        <a:p>
          <a:endParaRPr lang="en-US"/>
        </a:p>
      </dgm:t>
    </dgm:pt>
    <dgm:pt modelId="{C67249EE-A6F9-4E49-8738-6268C56BBB08}">
      <dgm:prSet/>
      <dgm:spPr/>
      <dgm:t>
        <a:bodyPr/>
        <a:lstStyle/>
        <a:p>
          <a:r>
            <a:rPr lang="en-US"/>
            <a:t>Gained experience using visuals for interpretation (boxplots, QQ plots)</a:t>
          </a:r>
        </a:p>
      </dgm:t>
    </dgm:pt>
    <dgm:pt modelId="{D0B352CC-E1F8-4015-8210-2031F207117D}" type="parTrans" cxnId="{3780AE2A-D432-4029-8A21-C19A0D00985A}">
      <dgm:prSet/>
      <dgm:spPr/>
      <dgm:t>
        <a:bodyPr/>
        <a:lstStyle/>
        <a:p>
          <a:endParaRPr lang="en-US"/>
        </a:p>
      </dgm:t>
    </dgm:pt>
    <dgm:pt modelId="{C73DE4E3-7174-4D12-AD95-4283EB6464B4}" type="sibTrans" cxnId="{3780AE2A-D432-4029-8A21-C19A0D00985A}">
      <dgm:prSet/>
      <dgm:spPr/>
      <dgm:t>
        <a:bodyPr/>
        <a:lstStyle/>
        <a:p>
          <a:endParaRPr lang="en-US"/>
        </a:p>
      </dgm:t>
    </dgm:pt>
    <dgm:pt modelId="{9F022F1D-258C-45D0-8FB9-391EEB62A687}">
      <dgm:prSet/>
      <dgm:spPr/>
      <dgm:t>
        <a:bodyPr/>
        <a:lstStyle/>
        <a:p>
          <a:r>
            <a:rPr lang="en-US"/>
            <a:t>Took lead on our section due to uneven team effort</a:t>
          </a:r>
        </a:p>
      </dgm:t>
    </dgm:pt>
    <dgm:pt modelId="{778CDC84-E13C-457B-ACF4-C071A5AAE732}" type="parTrans" cxnId="{F03C3038-9BD1-4F9C-9C08-0FE1CF5EE21B}">
      <dgm:prSet/>
      <dgm:spPr/>
      <dgm:t>
        <a:bodyPr/>
        <a:lstStyle/>
        <a:p>
          <a:endParaRPr lang="en-US"/>
        </a:p>
      </dgm:t>
    </dgm:pt>
    <dgm:pt modelId="{7131F81B-CF1A-4DA8-864D-CBCC1E99DCE4}" type="sibTrans" cxnId="{F03C3038-9BD1-4F9C-9C08-0FE1CF5EE21B}">
      <dgm:prSet/>
      <dgm:spPr/>
      <dgm:t>
        <a:bodyPr/>
        <a:lstStyle/>
        <a:p>
          <a:endParaRPr lang="en-US"/>
        </a:p>
      </dgm:t>
    </dgm:pt>
    <dgm:pt modelId="{7734A1E4-A7AC-4A31-88ED-551397584D1D}">
      <dgm:prSet/>
      <dgm:spPr/>
      <dgm:t>
        <a:bodyPr/>
        <a:lstStyle/>
        <a:p>
          <a:r>
            <a:rPr lang="en-US"/>
            <a:t>Improved skills in data storytelling and reporting</a:t>
          </a:r>
        </a:p>
      </dgm:t>
    </dgm:pt>
    <dgm:pt modelId="{7CC9D8CB-6D60-47C5-ADE7-1156B80C3B76}" type="parTrans" cxnId="{47CFB5AE-877F-4295-91BE-7216B0F1D4F2}">
      <dgm:prSet/>
      <dgm:spPr/>
      <dgm:t>
        <a:bodyPr/>
        <a:lstStyle/>
        <a:p>
          <a:endParaRPr lang="en-US"/>
        </a:p>
      </dgm:t>
    </dgm:pt>
    <dgm:pt modelId="{12785474-2C58-4543-B7AE-8AF12F0A05CE}" type="sibTrans" cxnId="{47CFB5AE-877F-4295-91BE-7216B0F1D4F2}">
      <dgm:prSet/>
      <dgm:spPr/>
      <dgm:t>
        <a:bodyPr/>
        <a:lstStyle/>
        <a:p>
          <a:endParaRPr lang="en-US"/>
        </a:p>
      </dgm:t>
    </dgm:pt>
    <dgm:pt modelId="{EF5F6AF4-E318-422E-9A01-B53B1C11AD08}">
      <dgm:prSet/>
      <dgm:spPr/>
      <dgm:t>
        <a:bodyPr/>
        <a:lstStyle/>
        <a:p>
          <a:r>
            <a:rPr lang="en-US"/>
            <a:t>Recommendations:</a:t>
          </a:r>
        </a:p>
      </dgm:t>
    </dgm:pt>
    <dgm:pt modelId="{A262A030-7927-4A1B-A732-44065DEF99C8}" type="parTrans" cxnId="{C43C93E5-EFD6-4FA7-A9A3-69DFF90EEF05}">
      <dgm:prSet/>
      <dgm:spPr/>
      <dgm:t>
        <a:bodyPr/>
        <a:lstStyle/>
        <a:p>
          <a:endParaRPr lang="en-US"/>
        </a:p>
      </dgm:t>
    </dgm:pt>
    <dgm:pt modelId="{DFC63258-849E-46A1-856D-9A57C73054DC}" type="sibTrans" cxnId="{C43C93E5-EFD6-4FA7-A9A3-69DFF90EEF05}">
      <dgm:prSet/>
      <dgm:spPr/>
      <dgm:t>
        <a:bodyPr/>
        <a:lstStyle/>
        <a:p>
          <a:endParaRPr lang="en-US"/>
        </a:p>
      </dgm:t>
    </dgm:pt>
    <dgm:pt modelId="{CF5DB85C-7AF8-4F35-8CBD-FD967EE47152}">
      <dgm:prSet/>
      <dgm:spPr/>
      <dgm:t>
        <a:bodyPr/>
        <a:lstStyle/>
        <a:p>
          <a:r>
            <a:rPr lang="en-US"/>
            <a:t>Always check assumptions before trusting results</a:t>
          </a:r>
        </a:p>
      </dgm:t>
    </dgm:pt>
    <dgm:pt modelId="{EE0D5808-710E-43CF-9A18-FC87170189E4}" type="parTrans" cxnId="{00506B22-8337-41F6-A337-F0EE095DFA2B}">
      <dgm:prSet/>
      <dgm:spPr/>
      <dgm:t>
        <a:bodyPr/>
        <a:lstStyle/>
        <a:p>
          <a:endParaRPr lang="en-US"/>
        </a:p>
      </dgm:t>
    </dgm:pt>
    <dgm:pt modelId="{B6038583-D47C-4AFB-9B83-B2CFB75C154F}" type="sibTrans" cxnId="{00506B22-8337-41F6-A337-F0EE095DFA2B}">
      <dgm:prSet/>
      <dgm:spPr/>
      <dgm:t>
        <a:bodyPr/>
        <a:lstStyle/>
        <a:p>
          <a:endParaRPr lang="en-US"/>
        </a:p>
      </dgm:t>
    </dgm:pt>
    <dgm:pt modelId="{9D1138C3-61E2-4900-BCBE-FB02D74BC946}">
      <dgm:prSet/>
      <dgm:spPr/>
      <dgm:t>
        <a:bodyPr/>
        <a:lstStyle/>
        <a:p>
          <a:r>
            <a:rPr lang="en-US"/>
            <a:t>Use clear visuals and standardized reporting</a:t>
          </a:r>
        </a:p>
      </dgm:t>
    </dgm:pt>
    <dgm:pt modelId="{4173FB06-28B2-4B63-B08E-AF8ECE5BB6DB}" type="parTrans" cxnId="{7E6A6215-45E1-4AD0-BC5B-A1405EDAC0ED}">
      <dgm:prSet/>
      <dgm:spPr/>
      <dgm:t>
        <a:bodyPr/>
        <a:lstStyle/>
        <a:p>
          <a:endParaRPr lang="en-US"/>
        </a:p>
      </dgm:t>
    </dgm:pt>
    <dgm:pt modelId="{548415FC-DEDC-45F6-A06D-B3E1AEE97F87}" type="sibTrans" cxnId="{7E6A6215-45E1-4AD0-BC5B-A1405EDAC0ED}">
      <dgm:prSet/>
      <dgm:spPr/>
      <dgm:t>
        <a:bodyPr/>
        <a:lstStyle/>
        <a:p>
          <a:endParaRPr lang="en-US"/>
        </a:p>
      </dgm:t>
    </dgm:pt>
    <dgm:pt modelId="{B37AA6D1-A79F-4EEA-9DF8-6EBEA1BBE611}">
      <dgm:prSet/>
      <dgm:spPr/>
      <dgm:t>
        <a:bodyPr/>
        <a:lstStyle/>
        <a:p>
          <a:r>
            <a:rPr lang="en-US"/>
            <a:t>When teamwork is unbalanced, communicate early and step up if needed</a:t>
          </a:r>
        </a:p>
      </dgm:t>
    </dgm:pt>
    <dgm:pt modelId="{F6379FCA-A690-4A91-BB38-3285FC4B5205}" type="parTrans" cxnId="{F8AEAE1F-EA4B-46E8-94FA-86B3CEF426C6}">
      <dgm:prSet/>
      <dgm:spPr/>
      <dgm:t>
        <a:bodyPr/>
        <a:lstStyle/>
        <a:p>
          <a:endParaRPr lang="en-US"/>
        </a:p>
      </dgm:t>
    </dgm:pt>
    <dgm:pt modelId="{4784141C-8493-4A29-A035-D671D33B6BD7}" type="sibTrans" cxnId="{F8AEAE1F-EA4B-46E8-94FA-86B3CEF426C6}">
      <dgm:prSet/>
      <dgm:spPr/>
      <dgm:t>
        <a:bodyPr/>
        <a:lstStyle/>
        <a:p>
          <a:endParaRPr lang="en-US"/>
        </a:p>
      </dgm:t>
    </dgm:pt>
    <dgm:pt modelId="{0F5733C7-D409-9446-85B8-D3F12B5C42AB}" type="pres">
      <dgm:prSet presAssocID="{58D6FA1C-7268-417F-84F8-60A48E10368C}" presName="Name0" presStyleCnt="0">
        <dgm:presLayoutVars>
          <dgm:dir/>
          <dgm:resizeHandles val="exact"/>
        </dgm:presLayoutVars>
      </dgm:prSet>
      <dgm:spPr/>
    </dgm:pt>
    <dgm:pt modelId="{FBC05FCC-9A43-A34B-A2BE-420A8292BBAB}" type="pres">
      <dgm:prSet presAssocID="{D2B82A43-2C30-44E0-B362-C6A90B406627}" presName="node" presStyleLbl="node1" presStyleIdx="0" presStyleCnt="9">
        <dgm:presLayoutVars>
          <dgm:bulletEnabled val="1"/>
        </dgm:presLayoutVars>
      </dgm:prSet>
      <dgm:spPr/>
    </dgm:pt>
    <dgm:pt modelId="{82C47D2B-56C8-0B42-9F80-53BA95433732}" type="pres">
      <dgm:prSet presAssocID="{A97044BC-D799-4664-AA54-0368F32A49D6}" presName="sibTrans" presStyleLbl="sibTrans1D1" presStyleIdx="0" presStyleCnt="8"/>
      <dgm:spPr/>
    </dgm:pt>
    <dgm:pt modelId="{06D6C1B2-23D6-924E-90D7-24C0FBE2DBDC}" type="pres">
      <dgm:prSet presAssocID="{A97044BC-D799-4664-AA54-0368F32A49D6}" presName="connectorText" presStyleLbl="sibTrans1D1" presStyleIdx="0" presStyleCnt="8"/>
      <dgm:spPr/>
    </dgm:pt>
    <dgm:pt modelId="{D94E4EAC-A104-FD43-BCC9-1D534CE7FFAA}" type="pres">
      <dgm:prSet presAssocID="{945BEA7B-5EE7-42A2-B2C9-91DA21642B7F}" presName="node" presStyleLbl="node1" presStyleIdx="1" presStyleCnt="9">
        <dgm:presLayoutVars>
          <dgm:bulletEnabled val="1"/>
        </dgm:presLayoutVars>
      </dgm:prSet>
      <dgm:spPr/>
    </dgm:pt>
    <dgm:pt modelId="{E6DB3D93-C544-5A41-8069-23743A3016EE}" type="pres">
      <dgm:prSet presAssocID="{62604CE4-E8F0-453F-8599-ADDC57D25DA0}" presName="sibTrans" presStyleLbl="sibTrans1D1" presStyleIdx="1" presStyleCnt="8"/>
      <dgm:spPr/>
    </dgm:pt>
    <dgm:pt modelId="{BFD80AF6-BFF1-2145-9661-FD3581A97177}" type="pres">
      <dgm:prSet presAssocID="{62604CE4-E8F0-453F-8599-ADDC57D25DA0}" presName="connectorText" presStyleLbl="sibTrans1D1" presStyleIdx="1" presStyleCnt="8"/>
      <dgm:spPr/>
    </dgm:pt>
    <dgm:pt modelId="{CB86BC7E-6419-3D4B-9F59-F15571A0F489}" type="pres">
      <dgm:prSet presAssocID="{C67249EE-A6F9-4E49-8738-6268C56BBB08}" presName="node" presStyleLbl="node1" presStyleIdx="2" presStyleCnt="9">
        <dgm:presLayoutVars>
          <dgm:bulletEnabled val="1"/>
        </dgm:presLayoutVars>
      </dgm:prSet>
      <dgm:spPr/>
    </dgm:pt>
    <dgm:pt modelId="{381CA1D0-992C-1E4E-9F75-F4E93CC31401}" type="pres">
      <dgm:prSet presAssocID="{C73DE4E3-7174-4D12-AD95-4283EB6464B4}" presName="sibTrans" presStyleLbl="sibTrans1D1" presStyleIdx="2" presStyleCnt="8"/>
      <dgm:spPr/>
    </dgm:pt>
    <dgm:pt modelId="{D60A789B-1C4F-8B4C-BB4B-BFC557F2E391}" type="pres">
      <dgm:prSet presAssocID="{C73DE4E3-7174-4D12-AD95-4283EB6464B4}" presName="connectorText" presStyleLbl="sibTrans1D1" presStyleIdx="2" presStyleCnt="8"/>
      <dgm:spPr/>
    </dgm:pt>
    <dgm:pt modelId="{5EC9BFFE-DE59-7B43-B89A-03F7FBFA9948}" type="pres">
      <dgm:prSet presAssocID="{9F022F1D-258C-45D0-8FB9-391EEB62A687}" presName="node" presStyleLbl="node1" presStyleIdx="3" presStyleCnt="9">
        <dgm:presLayoutVars>
          <dgm:bulletEnabled val="1"/>
        </dgm:presLayoutVars>
      </dgm:prSet>
      <dgm:spPr/>
    </dgm:pt>
    <dgm:pt modelId="{680C44CC-C428-4144-B540-ECC8B0FA8BB0}" type="pres">
      <dgm:prSet presAssocID="{7131F81B-CF1A-4DA8-864D-CBCC1E99DCE4}" presName="sibTrans" presStyleLbl="sibTrans1D1" presStyleIdx="3" presStyleCnt="8"/>
      <dgm:spPr/>
    </dgm:pt>
    <dgm:pt modelId="{65F0A006-19D7-E443-8234-D89E8DF3B8B2}" type="pres">
      <dgm:prSet presAssocID="{7131F81B-CF1A-4DA8-864D-CBCC1E99DCE4}" presName="connectorText" presStyleLbl="sibTrans1D1" presStyleIdx="3" presStyleCnt="8"/>
      <dgm:spPr/>
    </dgm:pt>
    <dgm:pt modelId="{EA8737E0-C494-BE49-A3BA-CD0CF8A83DB0}" type="pres">
      <dgm:prSet presAssocID="{7734A1E4-A7AC-4A31-88ED-551397584D1D}" presName="node" presStyleLbl="node1" presStyleIdx="4" presStyleCnt="9">
        <dgm:presLayoutVars>
          <dgm:bulletEnabled val="1"/>
        </dgm:presLayoutVars>
      </dgm:prSet>
      <dgm:spPr/>
    </dgm:pt>
    <dgm:pt modelId="{A10D6BFE-3ACE-A944-B0B2-076C0AE2A80A}" type="pres">
      <dgm:prSet presAssocID="{12785474-2C58-4543-B7AE-8AF12F0A05CE}" presName="sibTrans" presStyleLbl="sibTrans1D1" presStyleIdx="4" presStyleCnt="8"/>
      <dgm:spPr/>
    </dgm:pt>
    <dgm:pt modelId="{F44400D9-D25A-2941-A0BB-48A3DF6027C3}" type="pres">
      <dgm:prSet presAssocID="{12785474-2C58-4543-B7AE-8AF12F0A05CE}" presName="connectorText" presStyleLbl="sibTrans1D1" presStyleIdx="4" presStyleCnt="8"/>
      <dgm:spPr/>
    </dgm:pt>
    <dgm:pt modelId="{278BB7D5-E3CE-DA49-B924-AAE88E211EFF}" type="pres">
      <dgm:prSet presAssocID="{EF5F6AF4-E318-422E-9A01-B53B1C11AD08}" presName="node" presStyleLbl="node1" presStyleIdx="5" presStyleCnt="9">
        <dgm:presLayoutVars>
          <dgm:bulletEnabled val="1"/>
        </dgm:presLayoutVars>
      </dgm:prSet>
      <dgm:spPr/>
    </dgm:pt>
    <dgm:pt modelId="{5FB36EE7-F555-CF4F-8B15-AE5E606830E5}" type="pres">
      <dgm:prSet presAssocID="{DFC63258-849E-46A1-856D-9A57C73054DC}" presName="sibTrans" presStyleLbl="sibTrans1D1" presStyleIdx="5" presStyleCnt="8"/>
      <dgm:spPr/>
    </dgm:pt>
    <dgm:pt modelId="{4434E89E-7888-E142-851F-88A2F08E4845}" type="pres">
      <dgm:prSet presAssocID="{DFC63258-849E-46A1-856D-9A57C73054DC}" presName="connectorText" presStyleLbl="sibTrans1D1" presStyleIdx="5" presStyleCnt="8"/>
      <dgm:spPr/>
    </dgm:pt>
    <dgm:pt modelId="{8DFB64FC-D6B4-F641-A6FA-6EC6252864D9}" type="pres">
      <dgm:prSet presAssocID="{CF5DB85C-7AF8-4F35-8CBD-FD967EE47152}" presName="node" presStyleLbl="node1" presStyleIdx="6" presStyleCnt="9">
        <dgm:presLayoutVars>
          <dgm:bulletEnabled val="1"/>
        </dgm:presLayoutVars>
      </dgm:prSet>
      <dgm:spPr/>
    </dgm:pt>
    <dgm:pt modelId="{0F99327F-D010-594D-9E23-0711E65F2BA7}" type="pres">
      <dgm:prSet presAssocID="{B6038583-D47C-4AFB-9B83-B2CFB75C154F}" presName="sibTrans" presStyleLbl="sibTrans1D1" presStyleIdx="6" presStyleCnt="8"/>
      <dgm:spPr/>
    </dgm:pt>
    <dgm:pt modelId="{759567F1-2268-644F-8A93-2C59EED99BC6}" type="pres">
      <dgm:prSet presAssocID="{B6038583-D47C-4AFB-9B83-B2CFB75C154F}" presName="connectorText" presStyleLbl="sibTrans1D1" presStyleIdx="6" presStyleCnt="8"/>
      <dgm:spPr/>
    </dgm:pt>
    <dgm:pt modelId="{C57F6B3E-7D5A-3E49-BA6C-B740DC58E474}" type="pres">
      <dgm:prSet presAssocID="{9D1138C3-61E2-4900-BCBE-FB02D74BC946}" presName="node" presStyleLbl="node1" presStyleIdx="7" presStyleCnt="9">
        <dgm:presLayoutVars>
          <dgm:bulletEnabled val="1"/>
        </dgm:presLayoutVars>
      </dgm:prSet>
      <dgm:spPr/>
    </dgm:pt>
    <dgm:pt modelId="{81F7E3D3-531D-E945-B612-5AB7DCFDBCBD}" type="pres">
      <dgm:prSet presAssocID="{548415FC-DEDC-45F6-A06D-B3E1AEE97F87}" presName="sibTrans" presStyleLbl="sibTrans1D1" presStyleIdx="7" presStyleCnt="8"/>
      <dgm:spPr/>
    </dgm:pt>
    <dgm:pt modelId="{227D4571-4EE0-F645-8D78-06D7502C3A74}" type="pres">
      <dgm:prSet presAssocID="{548415FC-DEDC-45F6-A06D-B3E1AEE97F87}" presName="connectorText" presStyleLbl="sibTrans1D1" presStyleIdx="7" presStyleCnt="8"/>
      <dgm:spPr/>
    </dgm:pt>
    <dgm:pt modelId="{6DF640BB-6BB9-1447-AFE8-7A0108D4C1AD}" type="pres">
      <dgm:prSet presAssocID="{B37AA6D1-A79F-4EEA-9DF8-6EBEA1BBE611}" presName="node" presStyleLbl="node1" presStyleIdx="8" presStyleCnt="9">
        <dgm:presLayoutVars>
          <dgm:bulletEnabled val="1"/>
        </dgm:presLayoutVars>
      </dgm:prSet>
      <dgm:spPr/>
    </dgm:pt>
  </dgm:ptLst>
  <dgm:cxnLst>
    <dgm:cxn modelId="{0D863611-203C-BD4C-96E6-8186EAB497CA}" type="presOf" srcId="{C73DE4E3-7174-4D12-AD95-4283EB6464B4}" destId="{D60A789B-1C4F-8B4C-BB4B-BFC557F2E391}" srcOrd="1" destOrd="0" presId="urn:microsoft.com/office/officeart/2016/7/layout/RepeatingBendingProcessNew"/>
    <dgm:cxn modelId="{7E6A6215-45E1-4AD0-BC5B-A1405EDAC0ED}" srcId="{58D6FA1C-7268-417F-84F8-60A48E10368C}" destId="{9D1138C3-61E2-4900-BCBE-FB02D74BC946}" srcOrd="7" destOrd="0" parTransId="{4173FB06-28B2-4B63-B08E-AF8ECE5BB6DB}" sibTransId="{548415FC-DEDC-45F6-A06D-B3E1AEE97F87}"/>
    <dgm:cxn modelId="{3B4A2A16-B0CE-3643-85CA-22747DCEE151}" type="presOf" srcId="{C67249EE-A6F9-4E49-8738-6268C56BBB08}" destId="{CB86BC7E-6419-3D4B-9F59-F15571A0F489}" srcOrd="0" destOrd="0" presId="urn:microsoft.com/office/officeart/2016/7/layout/RepeatingBendingProcessNew"/>
    <dgm:cxn modelId="{68F2DB19-FAEA-644B-AFB0-25013067165A}" type="presOf" srcId="{B37AA6D1-A79F-4EEA-9DF8-6EBEA1BBE611}" destId="{6DF640BB-6BB9-1447-AFE8-7A0108D4C1AD}" srcOrd="0" destOrd="0" presId="urn:microsoft.com/office/officeart/2016/7/layout/RepeatingBendingProcessNew"/>
    <dgm:cxn modelId="{F8AEAE1F-EA4B-46E8-94FA-86B3CEF426C6}" srcId="{58D6FA1C-7268-417F-84F8-60A48E10368C}" destId="{B37AA6D1-A79F-4EEA-9DF8-6EBEA1BBE611}" srcOrd="8" destOrd="0" parTransId="{F6379FCA-A690-4A91-BB38-3285FC4B5205}" sibTransId="{4784141C-8493-4A29-A035-D671D33B6BD7}"/>
    <dgm:cxn modelId="{00506B22-8337-41F6-A337-F0EE095DFA2B}" srcId="{58D6FA1C-7268-417F-84F8-60A48E10368C}" destId="{CF5DB85C-7AF8-4F35-8CBD-FD967EE47152}" srcOrd="6" destOrd="0" parTransId="{EE0D5808-710E-43CF-9A18-FC87170189E4}" sibTransId="{B6038583-D47C-4AFB-9B83-B2CFB75C154F}"/>
    <dgm:cxn modelId="{3780AE2A-D432-4029-8A21-C19A0D00985A}" srcId="{58D6FA1C-7268-417F-84F8-60A48E10368C}" destId="{C67249EE-A6F9-4E49-8738-6268C56BBB08}" srcOrd="2" destOrd="0" parTransId="{D0B352CC-E1F8-4015-8210-2031F207117D}" sibTransId="{C73DE4E3-7174-4D12-AD95-4283EB6464B4}"/>
    <dgm:cxn modelId="{F03C3038-9BD1-4F9C-9C08-0FE1CF5EE21B}" srcId="{58D6FA1C-7268-417F-84F8-60A48E10368C}" destId="{9F022F1D-258C-45D0-8FB9-391EEB62A687}" srcOrd="3" destOrd="0" parTransId="{778CDC84-E13C-457B-ACF4-C071A5AAE732}" sibTransId="{7131F81B-CF1A-4DA8-864D-CBCC1E99DCE4}"/>
    <dgm:cxn modelId="{5AF02F3F-9A3C-7746-8077-C06D684CE2F5}" type="presOf" srcId="{7131F81B-CF1A-4DA8-864D-CBCC1E99DCE4}" destId="{65F0A006-19D7-E443-8234-D89E8DF3B8B2}" srcOrd="1" destOrd="0" presId="urn:microsoft.com/office/officeart/2016/7/layout/RepeatingBendingProcessNew"/>
    <dgm:cxn modelId="{DF8C4B48-F7D9-144B-B331-0827595C4E08}" type="presOf" srcId="{DFC63258-849E-46A1-856D-9A57C73054DC}" destId="{4434E89E-7888-E142-851F-88A2F08E4845}" srcOrd="1" destOrd="0" presId="urn:microsoft.com/office/officeart/2016/7/layout/RepeatingBendingProcessNew"/>
    <dgm:cxn modelId="{E3B97354-4FBB-BD43-A1C7-5A7F13D1C6C9}" type="presOf" srcId="{62604CE4-E8F0-453F-8599-ADDC57D25DA0}" destId="{E6DB3D93-C544-5A41-8069-23743A3016EE}" srcOrd="0" destOrd="0" presId="urn:microsoft.com/office/officeart/2016/7/layout/RepeatingBendingProcessNew"/>
    <dgm:cxn modelId="{A1601C6D-0F51-3145-A9F2-FDD5086E091B}" type="presOf" srcId="{12785474-2C58-4543-B7AE-8AF12F0A05CE}" destId="{A10D6BFE-3ACE-A944-B0B2-076C0AE2A80A}" srcOrd="0" destOrd="0" presId="urn:microsoft.com/office/officeart/2016/7/layout/RepeatingBendingProcessNew"/>
    <dgm:cxn modelId="{87114673-BB5D-2846-AA29-0549B8F7FB31}" type="presOf" srcId="{548415FC-DEDC-45F6-A06D-B3E1AEE97F87}" destId="{81F7E3D3-531D-E945-B612-5AB7DCFDBCBD}" srcOrd="0" destOrd="0" presId="urn:microsoft.com/office/officeart/2016/7/layout/RepeatingBendingProcessNew"/>
    <dgm:cxn modelId="{F8CA7879-D9DD-0D40-A7EC-DAC7D05DFA59}" type="presOf" srcId="{58D6FA1C-7268-417F-84F8-60A48E10368C}" destId="{0F5733C7-D409-9446-85B8-D3F12B5C42AB}" srcOrd="0" destOrd="0" presId="urn:microsoft.com/office/officeart/2016/7/layout/RepeatingBendingProcessNew"/>
    <dgm:cxn modelId="{A66ED680-3B21-E744-88EF-AA1C1BBE69F1}" type="presOf" srcId="{9D1138C3-61E2-4900-BCBE-FB02D74BC946}" destId="{C57F6B3E-7D5A-3E49-BA6C-B740DC58E474}" srcOrd="0" destOrd="0" presId="urn:microsoft.com/office/officeart/2016/7/layout/RepeatingBendingProcessNew"/>
    <dgm:cxn modelId="{8443C683-AE3F-194E-9AF1-C3D287A5A3A6}" type="presOf" srcId="{CF5DB85C-7AF8-4F35-8CBD-FD967EE47152}" destId="{8DFB64FC-D6B4-F641-A6FA-6EC6252864D9}" srcOrd="0" destOrd="0" presId="urn:microsoft.com/office/officeart/2016/7/layout/RepeatingBendingProcessNew"/>
    <dgm:cxn modelId="{843BE884-299E-8445-9C52-99476CD4B556}" type="presOf" srcId="{548415FC-DEDC-45F6-A06D-B3E1AEE97F87}" destId="{227D4571-4EE0-F645-8D78-06D7502C3A74}" srcOrd="1" destOrd="0" presId="urn:microsoft.com/office/officeart/2016/7/layout/RepeatingBendingProcessNew"/>
    <dgm:cxn modelId="{75B0B098-61DC-834F-9085-95CD6CB7AFBD}" type="presOf" srcId="{A97044BC-D799-4664-AA54-0368F32A49D6}" destId="{82C47D2B-56C8-0B42-9F80-53BA95433732}" srcOrd="0" destOrd="0" presId="urn:microsoft.com/office/officeart/2016/7/layout/RepeatingBendingProcessNew"/>
    <dgm:cxn modelId="{A7CCAC9C-8715-5E4D-8978-202B6E1A93DD}" type="presOf" srcId="{B6038583-D47C-4AFB-9B83-B2CFB75C154F}" destId="{759567F1-2268-644F-8A93-2C59EED99BC6}" srcOrd="1" destOrd="0" presId="urn:microsoft.com/office/officeart/2016/7/layout/RepeatingBendingProcessNew"/>
    <dgm:cxn modelId="{6FB38D9E-A1B5-E949-9B91-3E8923D553FE}" type="presOf" srcId="{B6038583-D47C-4AFB-9B83-B2CFB75C154F}" destId="{0F99327F-D010-594D-9E23-0711E65F2BA7}" srcOrd="0" destOrd="0" presId="urn:microsoft.com/office/officeart/2016/7/layout/RepeatingBendingProcessNew"/>
    <dgm:cxn modelId="{E93DA89E-13B2-B941-9415-2D9E4906BE31}" type="presOf" srcId="{D2B82A43-2C30-44E0-B362-C6A90B406627}" destId="{FBC05FCC-9A43-A34B-A2BE-420A8292BBAB}" srcOrd="0" destOrd="0" presId="urn:microsoft.com/office/officeart/2016/7/layout/RepeatingBendingProcessNew"/>
    <dgm:cxn modelId="{04D7E3A1-D805-BB46-BD12-4255A59CA446}" type="presOf" srcId="{62604CE4-E8F0-453F-8599-ADDC57D25DA0}" destId="{BFD80AF6-BFF1-2145-9661-FD3581A97177}" srcOrd="1" destOrd="0" presId="urn:microsoft.com/office/officeart/2016/7/layout/RepeatingBendingProcessNew"/>
    <dgm:cxn modelId="{8E4A47A3-82FE-DB4A-8D1E-338CB52FD5A3}" type="presOf" srcId="{7131F81B-CF1A-4DA8-864D-CBCC1E99DCE4}" destId="{680C44CC-C428-4144-B540-ECC8B0FA8BB0}" srcOrd="0" destOrd="0" presId="urn:microsoft.com/office/officeart/2016/7/layout/RepeatingBendingProcessNew"/>
    <dgm:cxn modelId="{084D42AB-EE8D-DC47-B907-13E498B2DD1B}" type="presOf" srcId="{12785474-2C58-4543-B7AE-8AF12F0A05CE}" destId="{F44400D9-D25A-2941-A0BB-48A3DF6027C3}" srcOrd="1" destOrd="0" presId="urn:microsoft.com/office/officeart/2016/7/layout/RepeatingBendingProcessNew"/>
    <dgm:cxn modelId="{47CFB5AE-877F-4295-91BE-7216B0F1D4F2}" srcId="{58D6FA1C-7268-417F-84F8-60A48E10368C}" destId="{7734A1E4-A7AC-4A31-88ED-551397584D1D}" srcOrd="4" destOrd="0" parTransId="{7CC9D8CB-6D60-47C5-ADE7-1156B80C3B76}" sibTransId="{12785474-2C58-4543-B7AE-8AF12F0A05CE}"/>
    <dgm:cxn modelId="{8B734EB4-7B2C-DB42-823E-93FC8A537F67}" type="presOf" srcId="{9F022F1D-258C-45D0-8FB9-391EEB62A687}" destId="{5EC9BFFE-DE59-7B43-B89A-03F7FBFA9948}" srcOrd="0" destOrd="0" presId="urn:microsoft.com/office/officeart/2016/7/layout/RepeatingBendingProcessNew"/>
    <dgm:cxn modelId="{4447DEBB-0C09-4E45-8D17-0D82279951D8}" type="presOf" srcId="{EF5F6AF4-E318-422E-9A01-B53B1C11AD08}" destId="{278BB7D5-E3CE-DA49-B924-AAE88E211EFF}" srcOrd="0" destOrd="0" presId="urn:microsoft.com/office/officeart/2016/7/layout/RepeatingBendingProcessNew"/>
    <dgm:cxn modelId="{9C7355CB-9B5E-6C4D-81CA-E75B87DCF17C}" type="presOf" srcId="{DFC63258-849E-46A1-856D-9A57C73054DC}" destId="{5FB36EE7-F555-CF4F-8B15-AE5E606830E5}" srcOrd="0" destOrd="0" presId="urn:microsoft.com/office/officeart/2016/7/layout/RepeatingBendingProcessNew"/>
    <dgm:cxn modelId="{95F7D8D1-E481-034C-9114-37FB64F74118}" type="presOf" srcId="{A97044BC-D799-4664-AA54-0368F32A49D6}" destId="{06D6C1B2-23D6-924E-90D7-24C0FBE2DBDC}" srcOrd="1" destOrd="0" presId="urn:microsoft.com/office/officeart/2016/7/layout/RepeatingBendingProcessNew"/>
    <dgm:cxn modelId="{0255F4D8-921B-7E43-B147-30B019B3BF19}" type="presOf" srcId="{7734A1E4-A7AC-4A31-88ED-551397584D1D}" destId="{EA8737E0-C494-BE49-A3BA-CD0CF8A83DB0}" srcOrd="0" destOrd="0" presId="urn:microsoft.com/office/officeart/2016/7/layout/RepeatingBendingProcessNew"/>
    <dgm:cxn modelId="{98AD10DA-88A1-D448-A291-390DD5E75CD6}" type="presOf" srcId="{C73DE4E3-7174-4D12-AD95-4283EB6464B4}" destId="{381CA1D0-992C-1E4E-9F75-F4E93CC31401}" srcOrd="0" destOrd="0" presId="urn:microsoft.com/office/officeart/2016/7/layout/RepeatingBendingProcessNew"/>
    <dgm:cxn modelId="{165361E5-72A8-4144-B483-1671FC694A03}" srcId="{58D6FA1C-7268-417F-84F8-60A48E10368C}" destId="{945BEA7B-5EE7-42A2-B2C9-91DA21642B7F}" srcOrd="1" destOrd="0" parTransId="{5BCDE94A-5A87-4BCB-9439-DFF2FFE2CD1A}" sibTransId="{62604CE4-E8F0-453F-8599-ADDC57D25DA0}"/>
    <dgm:cxn modelId="{C43C93E5-EFD6-4FA7-A9A3-69DFF90EEF05}" srcId="{58D6FA1C-7268-417F-84F8-60A48E10368C}" destId="{EF5F6AF4-E318-422E-9A01-B53B1C11AD08}" srcOrd="5" destOrd="0" parTransId="{A262A030-7927-4A1B-A732-44065DEF99C8}" sibTransId="{DFC63258-849E-46A1-856D-9A57C73054DC}"/>
    <dgm:cxn modelId="{F3C933EB-4F54-4DB6-8A1A-1B5A0C6A5E23}" srcId="{58D6FA1C-7268-417F-84F8-60A48E10368C}" destId="{D2B82A43-2C30-44E0-B362-C6A90B406627}" srcOrd="0" destOrd="0" parTransId="{4252230B-7241-4603-AFE8-91EE8F05CE48}" sibTransId="{A97044BC-D799-4664-AA54-0368F32A49D6}"/>
    <dgm:cxn modelId="{61B594EB-0091-FA4D-BAC4-D720BE4D5CF0}" type="presOf" srcId="{945BEA7B-5EE7-42A2-B2C9-91DA21642B7F}" destId="{D94E4EAC-A104-FD43-BCC9-1D534CE7FFAA}" srcOrd="0" destOrd="0" presId="urn:microsoft.com/office/officeart/2016/7/layout/RepeatingBendingProcessNew"/>
    <dgm:cxn modelId="{74FFD8A2-5DEC-A143-A203-66CA7CD1506C}" type="presParOf" srcId="{0F5733C7-D409-9446-85B8-D3F12B5C42AB}" destId="{FBC05FCC-9A43-A34B-A2BE-420A8292BBAB}" srcOrd="0" destOrd="0" presId="urn:microsoft.com/office/officeart/2016/7/layout/RepeatingBendingProcessNew"/>
    <dgm:cxn modelId="{BEECEF1A-A9A4-3642-90D8-794C4A8323AC}" type="presParOf" srcId="{0F5733C7-D409-9446-85B8-D3F12B5C42AB}" destId="{82C47D2B-56C8-0B42-9F80-53BA95433732}" srcOrd="1" destOrd="0" presId="urn:microsoft.com/office/officeart/2016/7/layout/RepeatingBendingProcessNew"/>
    <dgm:cxn modelId="{A24EA20D-DCA2-DC49-8E9E-8D096AFF5C03}" type="presParOf" srcId="{82C47D2B-56C8-0B42-9F80-53BA95433732}" destId="{06D6C1B2-23D6-924E-90D7-24C0FBE2DBDC}" srcOrd="0" destOrd="0" presId="urn:microsoft.com/office/officeart/2016/7/layout/RepeatingBendingProcessNew"/>
    <dgm:cxn modelId="{E76A8BC9-1F7D-074B-89E6-7073B1A5EBA8}" type="presParOf" srcId="{0F5733C7-D409-9446-85B8-D3F12B5C42AB}" destId="{D94E4EAC-A104-FD43-BCC9-1D534CE7FFAA}" srcOrd="2" destOrd="0" presId="urn:microsoft.com/office/officeart/2016/7/layout/RepeatingBendingProcessNew"/>
    <dgm:cxn modelId="{F2C7C44B-8521-A84C-BCF0-B7C57208A732}" type="presParOf" srcId="{0F5733C7-D409-9446-85B8-D3F12B5C42AB}" destId="{E6DB3D93-C544-5A41-8069-23743A3016EE}" srcOrd="3" destOrd="0" presId="urn:microsoft.com/office/officeart/2016/7/layout/RepeatingBendingProcessNew"/>
    <dgm:cxn modelId="{7C265B3B-253F-FF4B-905C-95A55E7FC2DE}" type="presParOf" srcId="{E6DB3D93-C544-5A41-8069-23743A3016EE}" destId="{BFD80AF6-BFF1-2145-9661-FD3581A97177}" srcOrd="0" destOrd="0" presId="urn:microsoft.com/office/officeart/2016/7/layout/RepeatingBendingProcessNew"/>
    <dgm:cxn modelId="{59966FCD-F93E-7746-A3EE-B9B9D71E3CFF}" type="presParOf" srcId="{0F5733C7-D409-9446-85B8-D3F12B5C42AB}" destId="{CB86BC7E-6419-3D4B-9F59-F15571A0F489}" srcOrd="4" destOrd="0" presId="urn:microsoft.com/office/officeart/2016/7/layout/RepeatingBendingProcessNew"/>
    <dgm:cxn modelId="{F9866C87-5D47-C94E-9355-76900509C557}" type="presParOf" srcId="{0F5733C7-D409-9446-85B8-D3F12B5C42AB}" destId="{381CA1D0-992C-1E4E-9F75-F4E93CC31401}" srcOrd="5" destOrd="0" presId="urn:microsoft.com/office/officeart/2016/7/layout/RepeatingBendingProcessNew"/>
    <dgm:cxn modelId="{7A4BC78A-FAEB-EF48-8352-FC27112CF185}" type="presParOf" srcId="{381CA1D0-992C-1E4E-9F75-F4E93CC31401}" destId="{D60A789B-1C4F-8B4C-BB4B-BFC557F2E391}" srcOrd="0" destOrd="0" presId="urn:microsoft.com/office/officeart/2016/7/layout/RepeatingBendingProcessNew"/>
    <dgm:cxn modelId="{1CCE385D-6991-9043-B5FA-1F623B5F6779}" type="presParOf" srcId="{0F5733C7-D409-9446-85B8-D3F12B5C42AB}" destId="{5EC9BFFE-DE59-7B43-B89A-03F7FBFA9948}" srcOrd="6" destOrd="0" presId="urn:microsoft.com/office/officeart/2016/7/layout/RepeatingBendingProcessNew"/>
    <dgm:cxn modelId="{978087AD-EF20-134B-B3AB-CA463DDBF8AE}" type="presParOf" srcId="{0F5733C7-D409-9446-85B8-D3F12B5C42AB}" destId="{680C44CC-C428-4144-B540-ECC8B0FA8BB0}" srcOrd="7" destOrd="0" presId="urn:microsoft.com/office/officeart/2016/7/layout/RepeatingBendingProcessNew"/>
    <dgm:cxn modelId="{399E6719-8405-5E4D-AE45-BB17B50FE650}" type="presParOf" srcId="{680C44CC-C428-4144-B540-ECC8B0FA8BB0}" destId="{65F0A006-19D7-E443-8234-D89E8DF3B8B2}" srcOrd="0" destOrd="0" presId="urn:microsoft.com/office/officeart/2016/7/layout/RepeatingBendingProcessNew"/>
    <dgm:cxn modelId="{BD8B8A13-AA93-5D43-A925-3B6F1A448DFC}" type="presParOf" srcId="{0F5733C7-D409-9446-85B8-D3F12B5C42AB}" destId="{EA8737E0-C494-BE49-A3BA-CD0CF8A83DB0}" srcOrd="8" destOrd="0" presId="urn:microsoft.com/office/officeart/2016/7/layout/RepeatingBendingProcessNew"/>
    <dgm:cxn modelId="{7298AD74-EB4F-1E44-8D0E-EB558C9E51B6}" type="presParOf" srcId="{0F5733C7-D409-9446-85B8-D3F12B5C42AB}" destId="{A10D6BFE-3ACE-A944-B0B2-076C0AE2A80A}" srcOrd="9" destOrd="0" presId="urn:microsoft.com/office/officeart/2016/7/layout/RepeatingBendingProcessNew"/>
    <dgm:cxn modelId="{9BCA3DAC-89D9-8346-B262-F282B741AD8E}" type="presParOf" srcId="{A10D6BFE-3ACE-A944-B0B2-076C0AE2A80A}" destId="{F44400D9-D25A-2941-A0BB-48A3DF6027C3}" srcOrd="0" destOrd="0" presId="urn:microsoft.com/office/officeart/2016/7/layout/RepeatingBendingProcessNew"/>
    <dgm:cxn modelId="{DACC22A1-1140-D44E-8ADB-8D52B337213B}" type="presParOf" srcId="{0F5733C7-D409-9446-85B8-D3F12B5C42AB}" destId="{278BB7D5-E3CE-DA49-B924-AAE88E211EFF}" srcOrd="10" destOrd="0" presId="urn:microsoft.com/office/officeart/2016/7/layout/RepeatingBendingProcessNew"/>
    <dgm:cxn modelId="{1830B376-57D7-8C49-B78F-90A98D374232}" type="presParOf" srcId="{0F5733C7-D409-9446-85B8-D3F12B5C42AB}" destId="{5FB36EE7-F555-CF4F-8B15-AE5E606830E5}" srcOrd="11" destOrd="0" presId="urn:microsoft.com/office/officeart/2016/7/layout/RepeatingBendingProcessNew"/>
    <dgm:cxn modelId="{946A096C-8AE9-6B4F-B5CE-8D7C02002588}" type="presParOf" srcId="{5FB36EE7-F555-CF4F-8B15-AE5E606830E5}" destId="{4434E89E-7888-E142-851F-88A2F08E4845}" srcOrd="0" destOrd="0" presId="urn:microsoft.com/office/officeart/2016/7/layout/RepeatingBendingProcessNew"/>
    <dgm:cxn modelId="{DA966B92-CA29-BF40-AD8D-861C4EE08451}" type="presParOf" srcId="{0F5733C7-D409-9446-85B8-D3F12B5C42AB}" destId="{8DFB64FC-D6B4-F641-A6FA-6EC6252864D9}" srcOrd="12" destOrd="0" presId="urn:microsoft.com/office/officeart/2016/7/layout/RepeatingBendingProcessNew"/>
    <dgm:cxn modelId="{44EBFC82-F71E-A64B-99BB-5A8311D392DE}" type="presParOf" srcId="{0F5733C7-D409-9446-85B8-D3F12B5C42AB}" destId="{0F99327F-D010-594D-9E23-0711E65F2BA7}" srcOrd="13" destOrd="0" presId="urn:microsoft.com/office/officeart/2016/7/layout/RepeatingBendingProcessNew"/>
    <dgm:cxn modelId="{72179CEE-3461-F244-B9D2-42D5E94A2D0F}" type="presParOf" srcId="{0F99327F-D010-594D-9E23-0711E65F2BA7}" destId="{759567F1-2268-644F-8A93-2C59EED99BC6}" srcOrd="0" destOrd="0" presId="urn:microsoft.com/office/officeart/2016/7/layout/RepeatingBendingProcessNew"/>
    <dgm:cxn modelId="{5E85DA53-1671-8542-99B5-2C1577874C64}" type="presParOf" srcId="{0F5733C7-D409-9446-85B8-D3F12B5C42AB}" destId="{C57F6B3E-7D5A-3E49-BA6C-B740DC58E474}" srcOrd="14" destOrd="0" presId="urn:microsoft.com/office/officeart/2016/7/layout/RepeatingBendingProcessNew"/>
    <dgm:cxn modelId="{1E207685-E93B-3F44-B973-40DAEF9FA5CC}" type="presParOf" srcId="{0F5733C7-D409-9446-85B8-D3F12B5C42AB}" destId="{81F7E3D3-531D-E945-B612-5AB7DCFDBCBD}" srcOrd="15" destOrd="0" presId="urn:microsoft.com/office/officeart/2016/7/layout/RepeatingBendingProcessNew"/>
    <dgm:cxn modelId="{E0CFAE19-A9D4-E440-B416-C969F074B3E9}" type="presParOf" srcId="{81F7E3D3-531D-E945-B612-5AB7DCFDBCBD}" destId="{227D4571-4EE0-F645-8D78-06D7502C3A74}" srcOrd="0" destOrd="0" presId="urn:microsoft.com/office/officeart/2016/7/layout/RepeatingBendingProcessNew"/>
    <dgm:cxn modelId="{03D3FCE7-2834-0644-A325-2DAD7CE2EC09}" type="presParOf" srcId="{0F5733C7-D409-9446-85B8-D3F12B5C42AB}" destId="{6DF640BB-6BB9-1447-AFE8-7A0108D4C1AD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6847D0-D714-4D4D-BABD-CAB864134BB1}">
      <dsp:nvSpPr>
        <dsp:cNvPr id="0" name=""/>
        <dsp:cNvSpPr/>
      </dsp:nvSpPr>
      <dsp:spPr>
        <a:xfrm>
          <a:off x="8823" y="0"/>
          <a:ext cx="6264349" cy="3783012"/>
        </a:xfrm>
        <a:prstGeom prst="homePlate">
          <a:avLst>
            <a:gd name="adj" fmla="val 2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92" tIns="63500" rIns="883969" bIns="63500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project explores how different </a:t>
          </a:r>
          <a:r>
            <a:rPr lang="en-US" sz="2500" b="1" kern="1200"/>
            <a:t>workout routines, member demographics, and fitness habits</a:t>
          </a:r>
          <a:r>
            <a:rPr lang="en-US" sz="2500" kern="1200"/>
            <a:t> influence health outcomes like </a:t>
          </a:r>
          <a:r>
            <a:rPr lang="en-US" sz="2500" b="1" kern="1200"/>
            <a:t>BMI</a:t>
          </a:r>
          <a:r>
            <a:rPr lang="en-US" sz="2500" kern="1200"/>
            <a:t>, </a:t>
          </a:r>
          <a:r>
            <a:rPr lang="en-US" sz="2500" b="1" kern="1200"/>
            <a:t>fat percentage</a:t>
          </a:r>
          <a:r>
            <a:rPr lang="en-US" sz="2500" kern="1200"/>
            <a:t>, and </a:t>
          </a:r>
          <a:r>
            <a:rPr lang="en-US" sz="2500" b="1" kern="1200"/>
            <a:t>resting heart rate</a:t>
          </a:r>
          <a:r>
            <a:rPr lang="en-US" sz="2500" kern="1200"/>
            <a:t>.</a:t>
          </a:r>
        </a:p>
      </dsp:txBody>
      <dsp:txXfrm>
        <a:off x="8823" y="0"/>
        <a:ext cx="5791473" cy="3783012"/>
      </dsp:txXfrm>
    </dsp:sp>
    <dsp:sp modelId="{BFE61D6A-2447-48FD-ACA2-6E2F6F6E1CD2}">
      <dsp:nvSpPr>
        <dsp:cNvPr id="0" name=""/>
        <dsp:cNvSpPr/>
      </dsp:nvSpPr>
      <dsp:spPr>
        <a:xfrm>
          <a:off x="5020302" y="0"/>
          <a:ext cx="6264349" cy="3783012"/>
        </a:xfrm>
        <a:prstGeom prst="chevron">
          <a:avLst>
            <a:gd name="adj" fmla="val 2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92" tIns="63500" rIns="220992" bIns="63500" numCol="1" spcCol="1270" anchor="t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Understanding these relationships can help: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Personalize fitness plans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Improve training outcomes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Reduce health risks through targeted workouts</a:t>
          </a:r>
        </a:p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/>
            <a:t>Goal:</a:t>
          </a:r>
          <a:r>
            <a:rPr lang="en-US" sz="2000" kern="1200"/>
            <a:t> Use data to uncover trends and recommend more effective workout strategies for diverse gym members.</a:t>
          </a:r>
        </a:p>
      </dsp:txBody>
      <dsp:txXfrm>
        <a:off x="5966055" y="0"/>
        <a:ext cx="4372843" cy="3783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FE18F-467D-4B88-A7F4-459FB0C1E05E}">
      <dsp:nvSpPr>
        <dsp:cNvPr id="0" name=""/>
        <dsp:cNvSpPr/>
      </dsp:nvSpPr>
      <dsp:spPr>
        <a:xfrm>
          <a:off x="0" y="0"/>
          <a:ext cx="70847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6F5299-F8E8-4203-AF79-EF58E0A8D5AA}">
      <dsp:nvSpPr>
        <dsp:cNvPr id="0" name=""/>
        <dsp:cNvSpPr/>
      </dsp:nvSpPr>
      <dsp:spPr>
        <a:xfrm>
          <a:off x="0" y="0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Source:</a:t>
          </a:r>
          <a:r>
            <a:rPr lang="en-US" sz="2000" kern="1200"/>
            <a:t> Kaggle – Gym Members Exercise Dataset</a:t>
          </a:r>
        </a:p>
      </dsp:txBody>
      <dsp:txXfrm>
        <a:off x="0" y="0"/>
        <a:ext cx="7084788" cy="744750"/>
      </dsp:txXfrm>
    </dsp:sp>
    <dsp:sp modelId="{69CDFFC7-673C-46D2-9E8F-05396274739F}">
      <dsp:nvSpPr>
        <dsp:cNvPr id="0" name=""/>
        <dsp:cNvSpPr/>
      </dsp:nvSpPr>
      <dsp:spPr>
        <a:xfrm>
          <a:off x="0" y="744750"/>
          <a:ext cx="7084788" cy="0"/>
        </a:xfrm>
        <a:prstGeom prst="line">
          <a:avLst/>
        </a:prstGeom>
        <a:solidFill>
          <a:schemeClr val="accent2">
            <a:hueOff val="-848114"/>
            <a:satOff val="0"/>
            <a:lumOff val="-3445"/>
            <a:alphaOff val="0"/>
          </a:schemeClr>
        </a:solidFill>
        <a:ln w="9525" cap="flat" cmpd="sng" algn="ctr">
          <a:solidFill>
            <a:schemeClr val="accent2">
              <a:hueOff val="-848114"/>
              <a:satOff val="0"/>
              <a:lumOff val="-34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01A6BD-EB49-4D27-9C84-625FC2C9371C}">
      <dsp:nvSpPr>
        <dsp:cNvPr id="0" name=""/>
        <dsp:cNvSpPr/>
      </dsp:nvSpPr>
      <dsp:spPr>
        <a:xfrm>
          <a:off x="0" y="744750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Size:</a:t>
          </a:r>
          <a:r>
            <a:rPr lang="en-US" sz="2000" kern="1200" dirty="0"/>
            <a:t> ~973 entries</a:t>
          </a:r>
        </a:p>
      </dsp:txBody>
      <dsp:txXfrm>
        <a:off x="0" y="744750"/>
        <a:ext cx="7084788" cy="744750"/>
      </dsp:txXfrm>
    </dsp:sp>
    <dsp:sp modelId="{878DB24F-46D6-4EE4-8FED-FCF962B98703}">
      <dsp:nvSpPr>
        <dsp:cNvPr id="0" name=""/>
        <dsp:cNvSpPr/>
      </dsp:nvSpPr>
      <dsp:spPr>
        <a:xfrm>
          <a:off x="0" y="1489500"/>
          <a:ext cx="7084788" cy="0"/>
        </a:xfrm>
        <a:prstGeom prst="line">
          <a:avLst/>
        </a:prstGeom>
        <a:solidFill>
          <a:schemeClr val="accent2">
            <a:hueOff val="-1696227"/>
            <a:satOff val="0"/>
            <a:lumOff val="-6891"/>
            <a:alphaOff val="0"/>
          </a:schemeClr>
        </a:solidFill>
        <a:ln w="9525" cap="flat" cmpd="sng" algn="ctr">
          <a:solidFill>
            <a:schemeClr val="accent2">
              <a:hueOff val="-1696227"/>
              <a:satOff val="0"/>
              <a:lumOff val="-689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118456-FC56-43D8-8845-6DD2A279D43E}">
      <dsp:nvSpPr>
        <dsp:cNvPr id="0" name=""/>
        <dsp:cNvSpPr/>
      </dsp:nvSpPr>
      <dsp:spPr>
        <a:xfrm>
          <a:off x="0" y="1489500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Key Attributes:</a:t>
          </a:r>
          <a:endParaRPr lang="en-US" sz="2000" kern="1200"/>
        </a:p>
      </dsp:txBody>
      <dsp:txXfrm>
        <a:off x="0" y="1489500"/>
        <a:ext cx="7084788" cy="744750"/>
      </dsp:txXfrm>
    </dsp:sp>
    <dsp:sp modelId="{16D25999-E065-4CA4-8EB8-E6002E99D8F2}">
      <dsp:nvSpPr>
        <dsp:cNvPr id="0" name=""/>
        <dsp:cNvSpPr/>
      </dsp:nvSpPr>
      <dsp:spPr>
        <a:xfrm>
          <a:off x="0" y="2234251"/>
          <a:ext cx="7084788" cy="0"/>
        </a:xfrm>
        <a:prstGeom prst="line">
          <a:avLst/>
        </a:prstGeom>
        <a:solidFill>
          <a:schemeClr val="accent2">
            <a:hueOff val="-2544341"/>
            <a:satOff val="0"/>
            <a:lumOff val="-10336"/>
            <a:alphaOff val="0"/>
          </a:schemeClr>
        </a:solidFill>
        <a:ln w="9525" cap="flat" cmpd="sng" algn="ctr">
          <a:solidFill>
            <a:schemeClr val="accent2">
              <a:hueOff val="-2544341"/>
              <a:satOff val="0"/>
              <a:lumOff val="-1033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C5AAEE-F766-4185-9DFE-D6E6EE0511CD}">
      <dsp:nvSpPr>
        <dsp:cNvPr id="0" name=""/>
        <dsp:cNvSpPr/>
      </dsp:nvSpPr>
      <dsp:spPr>
        <a:xfrm>
          <a:off x="0" y="2234251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Demographics:</a:t>
          </a:r>
          <a:r>
            <a:rPr lang="en-US" sz="2000" kern="1200"/>
            <a:t> Age, Gender</a:t>
          </a:r>
        </a:p>
      </dsp:txBody>
      <dsp:txXfrm>
        <a:off x="0" y="2234251"/>
        <a:ext cx="7084788" cy="744750"/>
      </dsp:txXfrm>
    </dsp:sp>
    <dsp:sp modelId="{A2272A30-0E1A-460C-A90F-A7D82C09649F}">
      <dsp:nvSpPr>
        <dsp:cNvPr id="0" name=""/>
        <dsp:cNvSpPr/>
      </dsp:nvSpPr>
      <dsp:spPr>
        <a:xfrm>
          <a:off x="0" y="2979001"/>
          <a:ext cx="7084788" cy="0"/>
        </a:xfrm>
        <a:prstGeom prst="line">
          <a:avLst/>
        </a:prstGeom>
        <a:solidFill>
          <a:schemeClr val="accent2">
            <a:hueOff val="-3392454"/>
            <a:satOff val="0"/>
            <a:lumOff val="-13782"/>
            <a:alphaOff val="0"/>
          </a:schemeClr>
        </a:solidFill>
        <a:ln w="9525" cap="flat" cmpd="sng" algn="ctr">
          <a:solidFill>
            <a:schemeClr val="accent2">
              <a:hueOff val="-3392454"/>
              <a:satOff val="0"/>
              <a:lumOff val="-137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D4360E-A964-4DB1-835D-239B788D0770}">
      <dsp:nvSpPr>
        <dsp:cNvPr id="0" name=""/>
        <dsp:cNvSpPr/>
      </dsp:nvSpPr>
      <dsp:spPr>
        <a:xfrm>
          <a:off x="0" y="2979001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Body Metrics:</a:t>
          </a:r>
          <a:r>
            <a:rPr lang="en-US" sz="2000" kern="1200"/>
            <a:t> BMI, Fat Percentage</a:t>
          </a:r>
        </a:p>
      </dsp:txBody>
      <dsp:txXfrm>
        <a:off x="0" y="2979001"/>
        <a:ext cx="7084788" cy="744750"/>
      </dsp:txXfrm>
    </dsp:sp>
    <dsp:sp modelId="{8DE68133-4635-4A53-86B5-C36FD0279CA4}">
      <dsp:nvSpPr>
        <dsp:cNvPr id="0" name=""/>
        <dsp:cNvSpPr/>
      </dsp:nvSpPr>
      <dsp:spPr>
        <a:xfrm>
          <a:off x="0" y="3723751"/>
          <a:ext cx="7084788" cy="0"/>
        </a:xfrm>
        <a:prstGeom prst="line">
          <a:avLst/>
        </a:prstGeom>
        <a:solidFill>
          <a:schemeClr val="accent2">
            <a:hueOff val="-4240568"/>
            <a:satOff val="0"/>
            <a:lumOff val="-17227"/>
            <a:alphaOff val="0"/>
          </a:schemeClr>
        </a:solidFill>
        <a:ln w="9525" cap="flat" cmpd="sng" algn="ctr">
          <a:solidFill>
            <a:schemeClr val="accent2">
              <a:hueOff val="-4240568"/>
              <a:satOff val="0"/>
              <a:lumOff val="-1722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7856E8-6DF0-4A31-A265-345AAADC04DA}">
      <dsp:nvSpPr>
        <dsp:cNvPr id="0" name=""/>
        <dsp:cNvSpPr/>
      </dsp:nvSpPr>
      <dsp:spPr>
        <a:xfrm>
          <a:off x="0" y="3723751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Workout Habits:</a:t>
          </a:r>
          <a:r>
            <a:rPr lang="en-US" sz="2000" kern="1200"/>
            <a:t> Type, Frequency, Duration</a:t>
          </a:r>
        </a:p>
      </dsp:txBody>
      <dsp:txXfrm>
        <a:off x="0" y="3723751"/>
        <a:ext cx="7084788" cy="744750"/>
      </dsp:txXfrm>
    </dsp:sp>
    <dsp:sp modelId="{DBEAE2E3-D20D-4FEE-8D49-9DC6607D9F36}">
      <dsp:nvSpPr>
        <dsp:cNvPr id="0" name=""/>
        <dsp:cNvSpPr/>
      </dsp:nvSpPr>
      <dsp:spPr>
        <a:xfrm>
          <a:off x="0" y="4468502"/>
          <a:ext cx="7084788" cy="0"/>
        </a:xfrm>
        <a:prstGeom prst="line">
          <a:avLst/>
        </a:prstGeom>
        <a:solidFill>
          <a:schemeClr val="accent2">
            <a:hueOff val="-5088681"/>
            <a:satOff val="0"/>
            <a:lumOff val="-20673"/>
            <a:alphaOff val="0"/>
          </a:schemeClr>
        </a:solidFill>
        <a:ln w="9525" cap="flat" cmpd="sng" algn="ctr">
          <a:solidFill>
            <a:schemeClr val="accent2">
              <a:hueOff val="-5088681"/>
              <a:satOff val="0"/>
              <a:lumOff val="-206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B7BC17-67A9-4AD9-A174-06323863BB46}">
      <dsp:nvSpPr>
        <dsp:cNvPr id="0" name=""/>
        <dsp:cNvSpPr/>
      </dsp:nvSpPr>
      <dsp:spPr>
        <a:xfrm>
          <a:off x="0" y="4468502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Outcomes:</a:t>
          </a:r>
          <a:r>
            <a:rPr lang="en-US" sz="2000" kern="1200"/>
            <a:t> Calories Burned, Resting Heart Rate, Active BPM</a:t>
          </a:r>
        </a:p>
      </dsp:txBody>
      <dsp:txXfrm>
        <a:off x="0" y="4468502"/>
        <a:ext cx="7084788" cy="744750"/>
      </dsp:txXfrm>
    </dsp:sp>
    <dsp:sp modelId="{67E4CBA5-71A8-493B-BDC5-EAB84358E8D2}">
      <dsp:nvSpPr>
        <dsp:cNvPr id="0" name=""/>
        <dsp:cNvSpPr/>
      </dsp:nvSpPr>
      <dsp:spPr>
        <a:xfrm>
          <a:off x="0" y="5213252"/>
          <a:ext cx="7084788" cy="0"/>
        </a:xfrm>
        <a:prstGeom prst="line">
          <a:avLst/>
        </a:prstGeom>
        <a:solidFill>
          <a:schemeClr val="accent2">
            <a:hueOff val="-5936795"/>
            <a:satOff val="0"/>
            <a:lumOff val="-24118"/>
            <a:alphaOff val="0"/>
          </a:schemeClr>
        </a:solidFill>
        <a:ln w="9525" cap="flat" cmpd="sng" algn="ctr">
          <a:solidFill>
            <a:schemeClr val="accent2">
              <a:hueOff val="-5936795"/>
              <a:satOff val="0"/>
              <a:lumOff val="-2411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40F88B-A189-4377-A3F8-FF493880BF80}">
      <dsp:nvSpPr>
        <dsp:cNvPr id="0" name=""/>
        <dsp:cNvSpPr/>
      </dsp:nvSpPr>
      <dsp:spPr>
        <a:xfrm>
          <a:off x="0" y="5213252"/>
          <a:ext cx="7084788" cy="744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Useful for analyzing how behavior (workouts) links to physical outcomes</a:t>
          </a:r>
        </a:p>
      </dsp:txBody>
      <dsp:txXfrm>
        <a:off x="0" y="5213252"/>
        <a:ext cx="7084788" cy="744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2A8E78-E20A-44FA-81B2-5EDC7D1AAB36}">
      <dsp:nvSpPr>
        <dsp:cNvPr id="0" name=""/>
        <dsp:cNvSpPr/>
      </dsp:nvSpPr>
      <dsp:spPr>
        <a:xfrm>
          <a:off x="0" y="0"/>
          <a:ext cx="7763361" cy="1282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# Descriptive statistics</a:t>
          </a:r>
          <a:br>
            <a:rPr lang="en-US" sz="1800" kern="1200"/>
          </a:br>
          <a:r>
            <a:rPr lang="en-US" sz="1800" kern="1200"/>
            <a:t>data %&gt;%</a:t>
          </a:r>
          <a:br>
            <a:rPr lang="en-US" sz="1800" kern="1200"/>
          </a:br>
          <a:r>
            <a:rPr lang="en-US" sz="1800" kern="1200"/>
            <a:t>  group_by(Workout_Type) %&gt;%</a:t>
          </a:r>
          <a:br>
            <a:rPr lang="en-US" sz="1800" kern="1200"/>
          </a:br>
          <a:r>
            <a:rPr lang="en-US" sz="1800" kern="1200"/>
            <a:t>  get_summary_stats(Calories_Burned, type = "mean_sd")</a:t>
          </a:r>
        </a:p>
      </dsp:txBody>
      <dsp:txXfrm>
        <a:off x="37557" y="37557"/>
        <a:ext cx="6438018" cy="1207172"/>
      </dsp:txXfrm>
    </dsp:sp>
    <dsp:sp modelId="{F277477B-7A3B-4A78-84FE-DDEE1E46903C}">
      <dsp:nvSpPr>
        <dsp:cNvPr id="0" name=""/>
        <dsp:cNvSpPr/>
      </dsp:nvSpPr>
      <dsp:spPr>
        <a:xfrm>
          <a:off x="1370005" y="1567239"/>
          <a:ext cx="7763361" cy="128228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Displays the mean and standard deviation of calories burned for each workout type.</a:t>
          </a:r>
          <a:br>
            <a:rPr lang="en-US" sz="1800" kern="1200"/>
          </a:br>
          <a:br>
            <a:rPr lang="en-US" sz="1800" kern="1200"/>
          </a:br>
          <a:endParaRPr lang="en-US" sz="1800" kern="1200"/>
        </a:p>
      </dsp:txBody>
      <dsp:txXfrm>
        <a:off x="1407562" y="1604796"/>
        <a:ext cx="5484756" cy="1207172"/>
      </dsp:txXfrm>
    </dsp:sp>
    <dsp:sp modelId="{B30E3A22-5497-4D36-BA4A-C530E35B3EC9}">
      <dsp:nvSpPr>
        <dsp:cNvPr id="0" name=""/>
        <dsp:cNvSpPr/>
      </dsp:nvSpPr>
      <dsp:spPr>
        <a:xfrm>
          <a:off x="6929875" y="1008019"/>
          <a:ext cx="833486" cy="83348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117409" y="1008019"/>
        <a:ext cx="458418" cy="627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74795-77A7-40CC-84A6-CF7E832CEC36}">
      <dsp:nvSpPr>
        <dsp:cNvPr id="0" name=""/>
        <dsp:cNvSpPr/>
      </dsp:nvSpPr>
      <dsp:spPr>
        <a:xfrm>
          <a:off x="0" y="441433"/>
          <a:ext cx="5369440" cy="569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Output Summary:</a:t>
          </a:r>
          <a:endParaRPr lang="en-US" sz="1400" kern="1200"/>
        </a:p>
      </dsp:txBody>
      <dsp:txXfrm>
        <a:off x="27811" y="469244"/>
        <a:ext cx="5313818" cy="514094"/>
      </dsp:txXfrm>
    </dsp:sp>
    <dsp:sp modelId="{E6D6D52D-6F27-40B0-A153-D42110AD7DF6}">
      <dsp:nvSpPr>
        <dsp:cNvPr id="0" name=""/>
        <dsp:cNvSpPr/>
      </dsp:nvSpPr>
      <dsp:spPr>
        <a:xfrm>
          <a:off x="0" y="1051470"/>
          <a:ext cx="5369440" cy="569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·  ANOVA showed a significant difference in fat percentage across workout frequencies (F(3, 969) = 211.52, p &lt; 0.001).</a:t>
          </a:r>
        </a:p>
      </dsp:txBody>
      <dsp:txXfrm>
        <a:off x="27811" y="1079281"/>
        <a:ext cx="5313818" cy="514094"/>
      </dsp:txXfrm>
    </dsp:sp>
    <dsp:sp modelId="{2B70AA2F-C617-41CB-9677-B80423DC7DD2}">
      <dsp:nvSpPr>
        <dsp:cNvPr id="0" name=""/>
        <dsp:cNvSpPr/>
      </dsp:nvSpPr>
      <dsp:spPr>
        <a:xfrm>
          <a:off x="0" y="1661507"/>
          <a:ext cx="5369440" cy="569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·  Post-hoc tests revealed that those working out 4–5 days/week had significantly lower fat % than those working out 2–3 days/week.</a:t>
          </a:r>
        </a:p>
      </dsp:txBody>
      <dsp:txXfrm>
        <a:off x="27811" y="1689318"/>
        <a:ext cx="5313818" cy="514094"/>
      </dsp:txXfrm>
    </dsp:sp>
    <dsp:sp modelId="{40B6E993-6260-4FF0-879A-ADA867BBC3F8}">
      <dsp:nvSpPr>
        <dsp:cNvPr id="0" name=""/>
        <dsp:cNvSpPr/>
      </dsp:nvSpPr>
      <dsp:spPr>
        <a:xfrm>
          <a:off x="0" y="2271543"/>
          <a:ext cx="5369440" cy="5697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·  No difference found between 2 and 3 days/week (p = 0.986).</a:t>
          </a:r>
        </a:p>
      </dsp:txBody>
      <dsp:txXfrm>
        <a:off x="27811" y="2299354"/>
        <a:ext cx="5313818" cy="5140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FBF28-D852-C449-A1F4-921B140DED94}">
      <dsp:nvSpPr>
        <dsp:cNvPr id="0" name=""/>
        <dsp:cNvSpPr/>
      </dsp:nvSpPr>
      <dsp:spPr>
        <a:xfrm>
          <a:off x="-136408" y="17"/>
          <a:ext cx="9599453" cy="15549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Calories Burned by Workout Type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ANOVA Test Result: F(3, 969) = 0.949, p = 0.416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Conclusion: Not statistically significant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No meaningful difference in calories burned across different workout types.</a:t>
          </a:r>
        </a:p>
      </dsp:txBody>
      <dsp:txXfrm>
        <a:off x="-90864" y="45561"/>
        <a:ext cx="7756252" cy="1463906"/>
      </dsp:txXfrm>
    </dsp:sp>
    <dsp:sp modelId="{623CCABC-562A-8C4B-B5C0-6EB50DA1165A}">
      <dsp:nvSpPr>
        <dsp:cNvPr id="0" name=""/>
        <dsp:cNvSpPr/>
      </dsp:nvSpPr>
      <dsp:spPr>
        <a:xfrm>
          <a:off x="709834" y="1814543"/>
          <a:ext cx="9599453" cy="171691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Fat Percentage by Workout Frequency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• ANOVA Test Result: F(3, 969) = 211.52, p &lt; 0.001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• Conclusion: Statistically significant</a:t>
          </a:r>
        </a:p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• Fat percentage varied significantly based on how frequently participants exercised.</a:t>
          </a:r>
        </a:p>
      </dsp:txBody>
      <dsp:txXfrm>
        <a:off x="760121" y="1864830"/>
        <a:ext cx="7535873" cy="1616342"/>
      </dsp:txXfrm>
    </dsp:sp>
    <dsp:sp modelId="{518718AB-6C82-5842-BAA1-B77CE209E1F8}">
      <dsp:nvSpPr>
        <dsp:cNvPr id="0" name=""/>
        <dsp:cNvSpPr/>
      </dsp:nvSpPr>
      <dsp:spPr>
        <a:xfrm>
          <a:off x="1284796" y="3763307"/>
          <a:ext cx="10145086" cy="20406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Takeaway: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Workout type does not significantly affect calories burned.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However, workout frequency has a strong effect on body fat percentage.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Fat percentage is more clearly impacted by group differences than calories burned</a:t>
          </a:r>
          <a:r>
            <a:rPr lang="en-US" sz="1800" kern="1200" dirty="0"/>
            <a:t>.</a:t>
          </a:r>
        </a:p>
      </dsp:txBody>
      <dsp:txXfrm>
        <a:off x="1344566" y="3823077"/>
        <a:ext cx="7950962" cy="1921152"/>
      </dsp:txXfrm>
    </dsp:sp>
    <dsp:sp modelId="{9DCA0347-9AAE-FC4D-AA82-9CEF60CE99BF}">
      <dsp:nvSpPr>
        <dsp:cNvPr id="0" name=""/>
        <dsp:cNvSpPr/>
      </dsp:nvSpPr>
      <dsp:spPr>
        <a:xfrm>
          <a:off x="8347049" y="1221051"/>
          <a:ext cx="1115995" cy="111599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598148" y="1221051"/>
        <a:ext cx="613797" cy="839786"/>
      </dsp:txXfrm>
    </dsp:sp>
    <dsp:sp modelId="{4DD13490-696B-8E4E-A329-68B2972B7F20}">
      <dsp:nvSpPr>
        <dsp:cNvPr id="0" name=""/>
        <dsp:cNvSpPr/>
      </dsp:nvSpPr>
      <dsp:spPr>
        <a:xfrm>
          <a:off x="9194060" y="3212674"/>
          <a:ext cx="1115995" cy="111599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45159" y="3212674"/>
        <a:ext cx="613797" cy="8397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47D2B-56C8-0B42-9F80-53BA95433732}">
      <dsp:nvSpPr>
        <dsp:cNvPr id="0" name=""/>
        <dsp:cNvSpPr/>
      </dsp:nvSpPr>
      <dsp:spPr>
        <a:xfrm>
          <a:off x="1910701" y="1055118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3547" y="1098647"/>
        <a:ext cx="21910" cy="4382"/>
      </dsp:txXfrm>
    </dsp:sp>
    <dsp:sp modelId="{FBC05FCC-9A43-A34B-A2BE-420A8292BBAB}">
      <dsp:nvSpPr>
        <dsp:cNvPr id="0" name=""/>
        <dsp:cNvSpPr/>
      </dsp:nvSpPr>
      <dsp:spPr>
        <a:xfrm>
          <a:off x="7278" y="529271"/>
          <a:ext cx="1905222" cy="11431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Learned to apply ANOVA and MLR with real-world data in R</a:t>
          </a:r>
        </a:p>
      </dsp:txBody>
      <dsp:txXfrm>
        <a:off x="7278" y="529271"/>
        <a:ext cx="1905222" cy="1143133"/>
      </dsp:txXfrm>
    </dsp:sp>
    <dsp:sp modelId="{E6DB3D93-C544-5A41-8069-23743A3016EE}">
      <dsp:nvSpPr>
        <dsp:cNvPr id="0" name=""/>
        <dsp:cNvSpPr/>
      </dsp:nvSpPr>
      <dsp:spPr>
        <a:xfrm>
          <a:off x="4254125" y="1055118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46970" y="1098647"/>
        <a:ext cx="21910" cy="4382"/>
      </dsp:txXfrm>
    </dsp:sp>
    <dsp:sp modelId="{D94E4EAC-A104-FD43-BCC9-1D534CE7FFAA}">
      <dsp:nvSpPr>
        <dsp:cNvPr id="0" name=""/>
        <dsp:cNvSpPr/>
      </dsp:nvSpPr>
      <dsp:spPr>
        <a:xfrm>
          <a:off x="2350702" y="529271"/>
          <a:ext cx="1905222" cy="11431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Understood the importance of checking assumptions (normality, variance)</a:t>
          </a:r>
        </a:p>
      </dsp:txBody>
      <dsp:txXfrm>
        <a:off x="2350702" y="529271"/>
        <a:ext cx="1905222" cy="1143133"/>
      </dsp:txXfrm>
    </dsp:sp>
    <dsp:sp modelId="{381CA1D0-992C-1E4E-9F75-F4E93CC31401}">
      <dsp:nvSpPr>
        <dsp:cNvPr id="0" name=""/>
        <dsp:cNvSpPr/>
      </dsp:nvSpPr>
      <dsp:spPr>
        <a:xfrm>
          <a:off x="6597548" y="1055118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90394" y="1098647"/>
        <a:ext cx="21910" cy="4382"/>
      </dsp:txXfrm>
    </dsp:sp>
    <dsp:sp modelId="{CB86BC7E-6419-3D4B-9F59-F15571A0F489}">
      <dsp:nvSpPr>
        <dsp:cNvPr id="0" name=""/>
        <dsp:cNvSpPr/>
      </dsp:nvSpPr>
      <dsp:spPr>
        <a:xfrm>
          <a:off x="4694126" y="529271"/>
          <a:ext cx="1905222" cy="11431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Gained experience using visuals for interpretation (boxplots, QQ plots)</a:t>
          </a:r>
        </a:p>
      </dsp:txBody>
      <dsp:txXfrm>
        <a:off x="4694126" y="529271"/>
        <a:ext cx="1905222" cy="1143133"/>
      </dsp:txXfrm>
    </dsp:sp>
    <dsp:sp modelId="{680C44CC-C428-4144-B540-ECC8B0FA8BB0}">
      <dsp:nvSpPr>
        <dsp:cNvPr id="0" name=""/>
        <dsp:cNvSpPr/>
      </dsp:nvSpPr>
      <dsp:spPr>
        <a:xfrm>
          <a:off x="8940972" y="1055118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133817" y="1098647"/>
        <a:ext cx="21910" cy="4382"/>
      </dsp:txXfrm>
    </dsp:sp>
    <dsp:sp modelId="{5EC9BFFE-DE59-7B43-B89A-03F7FBFA9948}">
      <dsp:nvSpPr>
        <dsp:cNvPr id="0" name=""/>
        <dsp:cNvSpPr/>
      </dsp:nvSpPr>
      <dsp:spPr>
        <a:xfrm>
          <a:off x="7037549" y="529271"/>
          <a:ext cx="1905222" cy="11431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Took lead on our section due to uneven team effort</a:t>
          </a:r>
        </a:p>
      </dsp:txBody>
      <dsp:txXfrm>
        <a:off x="7037549" y="529271"/>
        <a:ext cx="1905222" cy="1143133"/>
      </dsp:txXfrm>
    </dsp:sp>
    <dsp:sp modelId="{A10D6BFE-3ACE-A944-B0B2-076C0AE2A80A}">
      <dsp:nvSpPr>
        <dsp:cNvPr id="0" name=""/>
        <dsp:cNvSpPr/>
      </dsp:nvSpPr>
      <dsp:spPr>
        <a:xfrm>
          <a:off x="959890" y="1670605"/>
          <a:ext cx="9373694" cy="407601"/>
        </a:xfrm>
        <a:custGeom>
          <a:avLst/>
          <a:gdLst/>
          <a:ahLst/>
          <a:cxnLst/>
          <a:rect l="0" t="0" r="0" b="0"/>
          <a:pathLst>
            <a:path>
              <a:moveTo>
                <a:pt x="9373694" y="0"/>
              </a:moveTo>
              <a:lnTo>
                <a:pt x="9373694" y="220900"/>
              </a:lnTo>
              <a:lnTo>
                <a:pt x="0" y="220900"/>
              </a:lnTo>
              <a:lnTo>
                <a:pt x="0" y="407601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12139" y="1872214"/>
        <a:ext cx="469196" cy="4382"/>
      </dsp:txXfrm>
    </dsp:sp>
    <dsp:sp modelId="{EA8737E0-C494-BE49-A3BA-CD0CF8A83DB0}">
      <dsp:nvSpPr>
        <dsp:cNvPr id="0" name=""/>
        <dsp:cNvSpPr/>
      </dsp:nvSpPr>
      <dsp:spPr>
        <a:xfrm>
          <a:off x="9380973" y="529271"/>
          <a:ext cx="1905222" cy="11431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Improved skills in data storytelling and reporting</a:t>
          </a:r>
        </a:p>
      </dsp:txBody>
      <dsp:txXfrm>
        <a:off x="9380973" y="529271"/>
        <a:ext cx="1905222" cy="1143133"/>
      </dsp:txXfrm>
    </dsp:sp>
    <dsp:sp modelId="{5FB36EE7-F555-CF4F-8B15-AE5E606830E5}">
      <dsp:nvSpPr>
        <dsp:cNvPr id="0" name=""/>
        <dsp:cNvSpPr/>
      </dsp:nvSpPr>
      <dsp:spPr>
        <a:xfrm>
          <a:off x="1910701" y="2636453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03547" y="2679982"/>
        <a:ext cx="21910" cy="4382"/>
      </dsp:txXfrm>
    </dsp:sp>
    <dsp:sp modelId="{278BB7D5-E3CE-DA49-B924-AAE88E211EFF}">
      <dsp:nvSpPr>
        <dsp:cNvPr id="0" name=""/>
        <dsp:cNvSpPr/>
      </dsp:nvSpPr>
      <dsp:spPr>
        <a:xfrm>
          <a:off x="7278" y="2110606"/>
          <a:ext cx="1905222" cy="11431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Recommendations:</a:t>
          </a:r>
        </a:p>
      </dsp:txBody>
      <dsp:txXfrm>
        <a:off x="7278" y="2110606"/>
        <a:ext cx="1905222" cy="1143133"/>
      </dsp:txXfrm>
    </dsp:sp>
    <dsp:sp modelId="{0F99327F-D010-594D-9E23-0711E65F2BA7}">
      <dsp:nvSpPr>
        <dsp:cNvPr id="0" name=""/>
        <dsp:cNvSpPr/>
      </dsp:nvSpPr>
      <dsp:spPr>
        <a:xfrm>
          <a:off x="4254125" y="2636453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46970" y="2679982"/>
        <a:ext cx="21910" cy="4382"/>
      </dsp:txXfrm>
    </dsp:sp>
    <dsp:sp modelId="{8DFB64FC-D6B4-F641-A6FA-6EC6252864D9}">
      <dsp:nvSpPr>
        <dsp:cNvPr id="0" name=""/>
        <dsp:cNvSpPr/>
      </dsp:nvSpPr>
      <dsp:spPr>
        <a:xfrm>
          <a:off x="2350702" y="2110606"/>
          <a:ext cx="1905222" cy="11431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Always check assumptions before trusting results</a:t>
          </a:r>
        </a:p>
      </dsp:txBody>
      <dsp:txXfrm>
        <a:off x="2350702" y="2110606"/>
        <a:ext cx="1905222" cy="1143133"/>
      </dsp:txXfrm>
    </dsp:sp>
    <dsp:sp modelId="{81F7E3D3-531D-E945-B612-5AB7DCFDBCBD}">
      <dsp:nvSpPr>
        <dsp:cNvPr id="0" name=""/>
        <dsp:cNvSpPr/>
      </dsp:nvSpPr>
      <dsp:spPr>
        <a:xfrm>
          <a:off x="6597548" y="2636453"/>
          <a:ext cx="407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760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790394" y="2679982"/>
        <a:ext cx="21910" cy="4382"/>
      </dsp:txXfrm>
    </dsp:sp>
    <dsp:sp modelId="{C57F6B3E-7D5A-3E49-BA6C-B740DC58E474}">
      <dsp:nvSpPr>
        <dsp:cNvPr id="0" name=""/>
        <dsp:cNvSpPr/>
      </dsp:nvSpPr>
      <dsp:spPr>
        <a:xfrm>
          <a:off x="4694126" y="2110606"/>
          <a:ext cx="1905222" cy="11431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clear visuals and standardized reporting</a:t>
          </a:r>
        </a:p>
      </dsp:txBody>
      <dsp:txXfrm>
        <a:off x="4694126" y="2110606"/>
        <a:ext cx="1905222" cy="1143133"/>
      </dsp:txXfrm>
    </dsp:sp>
    <dsp:sp modelId="{6DF640BB-6BB9-1447-AFE8-7A0108D4C1AD}">
      <dsp:nvSpPr>
        <dsp:cNvPr id="0" name=""/>
        <dsp:cNvSpPr/>
      </dsp:nvSpPr>
      <dsp:spPr>
        <a:xfrm>
          <a:off x="7037549" y="2110606"/>
          <a:ext cx="1905222" cy="11431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357" tIns="97995" rIns="93357" bIns="9799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When teamwork is unbalanced, communicate early and step up if needed</a:t>
          </a:r>
        </a:p>
      </dsp:txBody>
      <dsp:txXfrm>
        <a:off x="7037549" y="2110606"/>
        <a:ext cx="1905222" cy="1143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AEB1-9B30-1041-9ADA-5AE0A6F499F5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1D6E2-3EEC-F641-ACF0-21A18D59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2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1D6E2-3EEC-F641-ACF0-21A18D593B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32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81D6E2-3EEC-F641-ACF0-21A18D593B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92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March 17,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1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March 17,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8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627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8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2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71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5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2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5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9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Tuesday, March 17,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1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March 17,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948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en-US" b="1"/>
              <a:t>CIS 328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055" y="1652401"/>
            <a:ext cx="11293200" cy="502876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r>
              <a:rPr lang="en-US" sz="4400" b="1"/>
              <a:t>Team Project Final Presentation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9AA23195-ABC7-D54F-F8AD-9532461AE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385" r="-2" b="21976"/>
          <a:stretch/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D94A45-694C-A7C0-6055-21F26409A165}"/>
              </a:ext>
            </a:extLst>
          </p:cNvPr>
          <p:cNvSpPr txBox="1"/>
          <p:nvPr/>
        </p:nvSpPr>
        <p:spPr>
          <a:xfrm>
            <a:off x="263157" y="3451274"/>
            <a:ext cx="61190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Jivitesh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Niranjan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Pradip</a:t>
            </a:r>
            <a:b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May 9, 2025</a:t>
            </a:r>
            <a:b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Prof. </a:t>
            </a:r>
            <a:r>
              <a:rPr lang="en-US" sz="2800" b="1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Jinjuan</a:t>
            </a:r>
            <a:r>
              <a:rPr lang="en-US" sz="28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2C39A-314D-BF62-3A62-A23CF3A89E50}"/>
              </a:ext>
            </a:extLst>
          </p:cNvPr>
          <p:cNvSpPr txBox="1"/>
          <p:nvPr/>
        </p:nvSpPr>
        <p:spPr>
          <a:xfrm>
            <a:off x="2062716" y="2155276"/>
            <a:ext cx="71583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 Exercise Behavior and Body Metrics Analysis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CFC294A-7FF8-4114-B0AD-F3B7F15EF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D269E-B169-0370-8BEB-344BF14D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11301984" cy="984885"/>
          </a:xfrm>
        </p:spPr>
        <p:txBody>
          <a:bodyPr>
            <a:normAutofit/>
          </a:bodyPr>
          <a:lstStyle/>
          <a:p>
            <a:br>
              <a:rPr lang="en-US" sz="3500" i="0">
                <a:latin typeface="Times"/>
                <a:cs typeface="Times"/>
              </a:rPr>
            </a:br>
            <a:r>
              <a:rPr lang="en-US" sz="3500" i="0">
                <a:latin typeface="Times"/>
                <a:cs typeface="Times"/>
              </a:rPr>
              <a:t>Project Introduction &amp; Dataset Overview</a:t>
            </a:r>
            <a:endParaRPr lang="en-US" sz="3500">
              <a:ea typeface="Source Sans Pro Ligh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93FE3F6-2B23-4E4E-AA49-C212646DC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9400" y="16092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90524A-9AAE-750F-8CCA-9101E465E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841917"/>
              </p:ext>
            </p:extLst>
          </p:nvPr>
        </p:nvGraphicFramePr>
        <p:xfrm>
          <a:off x="450000" y="2059200"/>
          <a:ext cx="11293475" cy="378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5268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E21CA63-4B99-4925-8CAF-F408D7AB0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0BF6B-02C5-97D9-3A89-2F237F0C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799"/>
            <a:ext cx="2854800" cy="5965199"/>
          </a:xfrm>
        </p:spPr>
        <p:txBody>
          <a:bodyPr>
            <a:normAutofit/>
          </a:bodyPr>
          <a:lstStyle/>
          <a:p>
            <a:r>
              <a:rPr lang="en-US" i="0">
                <a:ea typeface="+mj-lt"/>
                <a:cs typeface="+mj-lt"/>
              </a:rPr>
              <a:t>Dataset Description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440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D9C6FC3-E8B6-C0E6-C5BB-C2F41E2AE8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620714"/>
              </p:ext>
            </p:extLst>
          </p:nvPr>
        </p:nvGraphicFramePr>
        <p:xfrm>
          <a:off x="4194000" y="449997"/>
          <a:ext cx="7084788" cy="5958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289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2D6BCA94-FEDC-4F9B-820A-BA138802E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96D2B-FE8E-E738-01F6-FA41F716C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0532" cy="986400"/>
          </a:xfrm>
        </p:spPr>
        <p:txBody>
          <a:bodyPr anchor="b">
            <a:normAutofit/>
          </a:bodyPr>
          <a:lstStyle/>
          <a:p>
            <a:r>
              <a:rPr lang="en-US" sz="6400" i="0">
                <a:ea typeface="+mj-lt"/>
                <a:cs typeface="+mj-lt"/>
              </a:rPr>
              <a:t>Summary Statistics</a:t>
            </a:r>
            <a:endParaRPr lang="en-US" sz="640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11300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100" descr="Free illustration: Statistics, Chart, Graphic, Bar - Free Image on ...">
            <a:extLst>
              <a:ext uri="{FF2B5EF4-FFF2-40B4-BE49-F238E27FC236}">
                <a16:creationId xmlns:a16="http://schemas.microsoft.com/office/drawing/2014/main" id="{695F07DA-3590-B285-DD88-EDEEF7E86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" y="2084102"/>
            <a:ext cx="5430101" cy="3841796"/>
          </a:xfrm>
          <a:prstGeom prst="rect">
            <a:avLst/>
          </a:prstGeom>
        </p:spPr>
      </p:pic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5E98A2F7-7BC5-CF82-9E9A-45784B666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1900" y="1944000"/>
            <a:ext cx="5434900" cy="4006800"/>
          </a:xfrm>
        </p:spPr>
        <p:txBody>
          <a:bodyPr vert="horz" wrap="square" lIns="0" tIns="0" rIns="91440" bIns="0" rtlCol="0" anchor="t">
            <a:noAutofit/>
          </a:bodyPr>
          <a:lstStyle/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**Feature**                        | **Mean** | **Median** | **Std Dev** | **Min** | **Max** |</a:t>
            </a:r>
            <a:endParaRPr lang="en-US" sz="1050">
              <a:solidFill>
                <a:schemeClr val="tx1"/>
              </a:solidFill>
              <a:latin typeface="Source Sans Pro"/>
              <a:ea typeface="Source Sans Pro"/>
              <a:cs typeface="Arial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**Age**                                | 38.68         | 40.00              | 12.18            | 18.00           | 59.00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**Weight (kg)**                | 73.85         | 70.00             | 21.21            | 40.00            | 129.90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**Height (m)**                  | 1.72           | 1.71                 | 0.13             | 1.50              | 2.00 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**Max\_BPM**                   | 179.88     | 180.00            | 11.53           | 160.00        | 199.00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**Avg\_BPM**                    | 143.77    | 143.00             | 14.35          | 120.00         | 169.00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**Resting\_BPM**             | 62.22     | 62.00               | 7.33            | 50.00              | 74.00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**Session  hours                 | 1.26       | 1.26                  | 0.34           | 0.50                 | 2.00 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**Calories\_Burned**      | 905.42   | 893.00             | 272.64       | 303.00       | 1783.00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**Fat\_Percentage**          | 24.98     | 26.20               | 6.26           | 10.00             | 35.00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**Water\_Intake (liters)     | 2.63        | 2.60                 | 0.60        | 1.50                 | 3.70 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**Workout(days/week)      | 3.32       | 3.00                | 0.91         | 2.00                  | 5.00 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**Experience\_Level**        | 1.81         | 2.00             | 0.74        | 1.00                   | 3.00 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050">
                <a:solidFill>
                  <a:schemeClr val="tx1"/>
                </a:solidFill>
                <a:ea typeface="+mn-lt"/>
                <a:cs typeface="+mn-lt"/>
              </a:rPr>
              <a:t>| **BMI                                          | 24.91     | 24.16         | 6.66            | 12.32                | 49.84   |</a:t>
            </a:r>
            <a:endParaRPr lang="en-US" sz="1050">
              <a:solidFill>
                <a:schemeClr val="tx1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endParaRPr lang="en-US" sz="1050">
              <a:solidFill>
                <a:schemeClr val="tx1"/>
              </a:solidFill>
              <a:latin typeface="Source Sans Pro"/>
              <a:ea typeface="Source Sans Pr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84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ECF803-D252-4700-A23E-171E66176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3D4AA-54AC-1097-5BFB-68373289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8600"/>
            <a:ext cx="4690872" cy="6190488"/>
          </a:xfrm>
        </p:spPr>
        <p:txBody>
          <a:bodyPr>
            <a:normAutofit/>
          </a:bodyPr>
          <a:lstStyle/>
          <a:p>
            <a:r>
              <a:rPr lang="en-US" sz="6400">
                <a:ea typeface="Source Sans Pro Light"/>
              </a:rPr>
              <a:t>Research Questions</a:t>
            </a:r>
            <a:endParaRPr lang="en-US" sz="64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7E0F8D-CD95-42E8-B49E-DFFDB4AF1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9600" y="450000"/>
            <a:ext cx="0" cy="596667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C3A34-77D4-EB4F-8CAA-E9B5E55E1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48" y="329184"/>
            <a:ext cx="5184648" cy="6089904"/>
          </a:xfrm>
        </p:spPr>
        <p:txBody>
          <a:bodyPr vert="horz" wrap="square" lIns="0" tIns="0" rIns="91440" bIns="0" rtlCol="0" anchor="t">
            <a:normAutofit fontScale="92500" lnSpcReduction="10000"/>
          </a:bodyPr>
          <a:lstStyle/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Research Question:</a:t>
            </a:r>
            <a:endParaRPr lang="en-US" sz="1400">
              <a:solidFill>
                <a:schemeClr val="tx2"/>
              </a:solidFill>
              <a:latin typeface="Arial"/>
              <a:ea typeface="Source Sans Pro"/>
              <a:cs typeface="Arial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Does the number of calories burned significantly differ based on the type of workout?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Hypotheses: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   •    Null (H₀):</a:t>
            </a: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There is </a:t>
            </a: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no significant difference</a:t>
            </a: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in mean calories burned across workout types (Cardio, HIIT, Strength, Yoga).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   •    Alternative (H₁):</a:t>
            </a: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At least </a:t>
            </a: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one workout type</a:t>
            </a: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has a </a:t>
            </a:r>
            <a:r>
              <a:rPr lang="en-US" sz="1400" b="1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different mean</a:t>
            </a:r>
            <a:r>
              <a:rPr lang="en-US" sz="1400">
                <a:solidFill>
                  <a:schemeClr val="tx2"/>
                </a:solidFill>
                <a:latin typeface="Segoe UI"/>
                <a:ea typeface="Source Sans Pro"/>
                <a:cs typeface="Segoe UI"/>
              </a:rPr>
              <a:t> number of calories burned.</a:t>
            </a:r>
          </a:p>
          <a:p>
            <a:pPr marL="449580" indent="-447675">
              <a:lnSpc>
                <a:spcPct val="130000"/>
              </a:lnSpc>
            </a:pPr>
            <a:endParaRPr lang="en-US" sz="1400">
              <a:solidFill>
                <a:schemeClr val="tx2"/>
              </a:solidFill>
              <a:latin typeface="Segoe UI"/>
              <a:ea typeface="Source Sans Pro"/>
              <a:cs typeface="Segoe UI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Research Question:</a:t>
            </a:r>
            <a:endParaRPr lang="en-US" sz="1400">
              <a:solidFill>
                <a:schemeClr val="tx2"/>
              </a:solidFill>
              <a:latin typeface="Segoe UI"/>
              <a:ea typeface="Source Sans Pro"/>
              <a:cs typeface="Segoe UI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Is there a significant difference in body fat percentage based on how many days per week someone works out?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Hypotheses: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    •    Null (H₀):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 There is </a:t>
            </a: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no significant difference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 in mean fat percentage across workout frequencies (2, 3, 4, or 5 days/week).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    •    Alternative (H₁):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 At least </a:t>
            </a: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one frequency group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 has a </a:t>
            </a:r>
            <a:r>
              <a:rPr lang="en-US" sz="1400" b="1">
                <a:solidFill>
                  <a:schemeClr val="tx2"/>
                </a:solidFill>
                <a:ea typeface="+mn-lt"/>
                <a:cs typeface="+mn-lt"/>
              </a:rPr>
              <a:t>different mean</a:t>
            </a:r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 fat percentage.</a:t>
            </a:r>
            <a:endParaRPr lang="en-US" sz="140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br>
              <a:rPr lang="en-US" sz="1100"/>
            </a:br>
            <a:endParaRPr lang="en-US" sz="1100">
              <a:ea typeface="Source Sans Pro"/>
            </a:endParaRPr>
          </a:p>
          <a:p>
            <a:pPr marL="449580" indent="-447675">
              <a:lnSpc>
                <a:spcPct val="130000"/>
              </a:lnSpc>
            </a:pPr>
            <a:endParaRPr lang="en-US" sz="1100">
              <a:latin typeface="Segoe UI"/>
              <a:ea typeface="Source Sans Pro"/>
              <a:cs typeface="Segoe UI"/>
            </a:endParaRPr>
          </a:p>
          <a:p>
            <a:pPr marL="449580" indent="-447675">
              <a:lnSpc>
                <a:spcPct val="130000"/>
              </a:lnSpc>
            </a:pPr>
            <a:endParaRPr lang="en-US" sz="1100">
              <a:latin typeface="Arial"/>
              <a:ea typeface="Source Sans Pr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6316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1DE0E-52C3-4E07-00F2-1EC5B0A7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i="0" kern="1400" spc="25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R Code and Slide Content for Presentation - (ANOVA Testing)</a:t>
            </a:r>
            <a:br>
              <a:rPr lang="en-US" sz="2400" i="0" kern="1400" spc="25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r>
              <a:rPr lang="en-US" sz="24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ANOVA Test 1 – Calories Burned by Workout Type</a:t>
            </a:r>
            <a:r>
              <a:rPr lang="en-US" sz="240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i="0" kern="1400" spc="25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</a:br>
            <a:endParaRPr lang="en-US" sz="2400" i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Title 1">
            <a:extLst>
              <a:ext uri="{FF2B5EF4-FFF2-40B4-BE49-F238E27FC236}">
                <a16:creationId xmlns:a16="http://schemas.microsoft.com/office/drawing/2014/main" id="{2850A24A-2897-0D89-18BD-CEE5DB97D2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070812"/>
          <a:ext cx="9133367" cy="2849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F6F1010-6EBB-1678-6C63-3C2EB8A59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008474"/>
            <a:ext cx="6368903" cy="2849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2639C-DA77-B2F2-3928-AA43A4BDB17E}"/>
              </a:ext>
            </a:extLst>
          </p:cNvPr>
          <p:cNvSpPr txBox="1"/>
          <p:nvPr/>
        </p:nvSpPr>
        <p:spPr>
          <a:xfrm>
            <a:off x="6613451" y="3529203"/>
            <a:ext cx="54013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Output Summary:</a:t>
            </a:r>
          </a:p>
          <a:p>
            <a:endParaRPr lang="en-US" sz="1800" b="1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mean calories burned were highest in the </a:t>
            </a: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HIIT</a:t>
            </a:r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group (926 kcal), followed by </a:t>
            </a: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Strength</a:t>
            </a:r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(911 kcal), </a:t>
            </a: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Yoga</a:t>
            </a:r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(903 kcal), and </a:t>
            </a:r>
            <a:r>
              <a:rPr lang="en-US" sz="1800" b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Cardio</a:t>
            </a:r>
            <a:r>
              <a:rPr lang="en-US" sz="180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(885 kcal). Although there are differences in the group means, the standard deviations are similar across all groups, indicating relatively consistent variation.</a:t>
            </a:r>
          </a:p>
          <a:p>
            <a:endParaRPr lang="en-US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180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sz="180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35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A62332-FD85-4956-B6DD-AECE2CD5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AB822-196E-82C3-F9AC-58715380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4694400" cy="2954655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0" marR="0">
              <a:spcAft>
                <a:spcPts val="1000"/>
              </a:spcAft>
            </a:pPr>
            <a:r>
              <a:rPr lang="en-US" sz="2100" b="1" dirty="0">
                <a:effectLst/>
              </a:rPr>
              <a:t># Boxplot</a:t>
            </a:r>
            <a:br>
              <a:rPr lang="en-US" sz="2100" b="1" dirty="0">
                <a:effectLst/>
              </a:rPr>
            </a:br>
            <a:r>
              <a:rPr lang="en-US" sz="2100" dirty="0">
                <a:effectLst/>
              </a:rPr>
              <a:t>ggboxplot(data, x = "Workout_Type", y = "Calories_Burned", fill = "skyblue")</a:t>
            </a:r>
            <a:br>
              <a:rPr lang="en-US" sz="2100" dirty="0">
                <a:effectLst/>
              </a:rPr>
            </a:b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Boxplot showing distribution of calories burned by workout type.</a:t>
            </a:r>
            <a:br>
              <a:rPr lang="en-US" sz="2100" dirty="0">
                <a:effectLst/>
              </a:rPr>
            </a:b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Outlier detection within each workout group. Most were not extreme.</a:t>
            </a:r>
            <a:br>
              <a:rPr lang="en-US" sz="2100" dirty="0">
                <a:effectLst/>
              </a:rPr>
            </a:br>
            <a:endParaRPr lang="en-US" sz="2100" b="1" dirty="0"/>
          </a:p>
        </p:txBody>
      </p:sp>
      <p:pic>
        <p:nvPicPr>
          <p:cNvPr id="4" name="Content Placeholder 3" descr="A diagram of a chart&#10;&#10;AI-generated content may be incorrect.">
            <a:extLst>
              <a:ext uri="{FF2B5EF4-FFF2-40B4-BE49-F238E27FC236}">
                <a16:creationId xmlns:a16="http://schemas.microsoft.com/office/drawing/2014/main" id="{7D471E0B-CD3B-3E02-B813-8A5DC25796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490" y="3646800"/>
            <a:ext cx="4581818" cy="27720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60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CDB84E-5E26-56EA-1125-756DA178661A}"/>
              </a:ext>
            </a:extLst>
          </p:cNvPr>
          <p:cNvSpPr txBox="1"/>
          <p:nvPr/>
        </p:nvSpPr>
        <p:spPr>
          <a:xfrm>
            <a:off x="6094800" y="323999"/>
            <a:ext cx="5184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</a:endParaRP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lang="en-US" b="1">
                <a:solidFill>
                  <a:schemeClr val="tx2">
                    <a:alpha val="55000"/>
                  </a:schemeClr>
                </a:solidFill>
                <a:effectLst/>
              </a:rPr>
              <a:t>Output Summary </a:t>
            </a:r>
          </a:p>
          <a:p>
            <a:pPr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·  Boxplot shows median, and variation of calories burned by workout type</a:t>
            </a:r>
          </a:p>
          <a:p>
            <a:pPr marL="0" marR="0"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·  Median calories burned is slightly higher for HIIT and Strength groups</a:t>
            </a:r>
          </a:p>
          <a:p>
            <a:pPr marL="0" marR="0"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·  All workout types have a similar spread (IQR), with visible outliers</a:t>
            </a:r>
          </a:p>
          <a:p>
            <a:pPr marL="0" marR="0"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·  HIIT and Strength have more upper outliers (burning high calories)</a:t>
            </a:r>
          </a:p>
          <a:p>
            <a:pPr marL="0" marR="0" indent="-448056">
              <a:lnSpc>
                <a:spcPct val="13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·  Suggests variation in performance within those groups</a:t>
            </a:r>
          </a:p>
        </p:txBody>
      </p:sp>
    </p:spTree>
    <p:extLst>
      <p:ext uri="{BB962C8B-B14F-4D97-AF65-F5344CB8AC3E}">
        <p14:creationId xmlns:p14="http://schemas.microsoft.com/office/powerpoint/2010/main" val="1744938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40AE45-0F40-4658-AECB-189ADDFFC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5FDB1-FC41-8B37-BBB7-B99387CC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68" y="83396"/>
            <a:ext cx="11300532" cy="1525804"/>
          </a:xfrm>
        </p:spPr>
        <p:txBody>
          <a:bodyPr vert="horz" wrap="square" lIns="0" tIns="0" rIns="0" bIns="0" rtlCol="0" anchor="b">
            <a:normAutofit fontScale="90000"/>
          </a:bodyPr>
          <a:lstStyle/>
          <a:p>
            <a:r>
              <a:rPr lang="en-US" sz="1600" b="1" dirty="0">
                <a:effectLst/>
              </a:rPr>
              <a:t># Outliers</a:t>
            </a:r>
            <a:br>
              <a:rPr lang="en-US" sz="1600" b="1" dirty="0">
                <a:effectLst/>
              </a:rPr>
            </a:b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data %&gt;%</a:t>
            </a: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  group_by(Workout_Type) %&gt;%</a:t>
            </a: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  identify_outliers(Calories_Burned). </a:t>
            </a:r>
            <a:br>
              <a:rPr lang="en-US" sz="1600" dirty="0">
                <a:effectLst/>
              </a:rPr>
            </a:b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Outliers may reflect higher individual performance or reporting variation</a:t>
            </a:r>
            <a:br>
              <a:rPr lang="en-US" sz="1600" dirty="0">
                <a:effectLst/>
              </a:rPr>
            </a:br>
            <a:endParaRPr lang="en-US" sz="1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11300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494201-EB00-D1CF-3583-D7A8EA188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999" y="2327236"/>
            <a:ext cx="7374789" cy="3355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6E790D-E7B0-D421-44EF-64B02A0D9BE3}"/>
              </a:ext>
            </a:extLst>
          </p:cNvPr>
          <p:cNvSpPr txBox="1"/>
          <p:nvPr/>
        </p:nvSpPr>
        <p:spPr>
          <a:xfrm>
            <a:off x="8256588" y="1944000"/>
            <a:ext cx="3490212" cy="40068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marR="0" lvl="0">
              <a:lnSpc>
                <a:spcPct val="140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b="1">
                <a:solidFill>
                  <a:schemeClr val="tx2">
                    <a:alpha val="55000"/>
                  </a:schemeClr>
                </a:solidFill>
                <a:effectLst/>
              </a:rPr>
              <a:t>Output Summary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Outliers were identified in all workout groups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Strength group showed the highest number of outliers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Most outliers were </a:t>
            </a:r>
            <a:r>
              <a:rPr lang="en-US" b="1">
                <a:solidFill>
                  <a:schemeClr val="tx2">
                    <a:alpha val="55000"/>
                  </a:schemeClr>
                </a:solidFill>
                <a:effectLst/>
              </a:rPr>
              <a:t>not extreme</a:t>
            </a: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, so assumption is still considered valid</a:t>
            </a:r>
          </a:p>
        </p:txBody>
      </p:sp>
    </p:spTree>
    <p:extLst>
      <p:ext uri="{BB962C8B-B14F-4D97-AF65-F5344CB8AC3E}">
        <p14:creationId xmlns:p14="http://schemas.microsoft.com/office/powerpoint/2010/main" val="239087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6C7028-F213-4361-8885-B2D93DABE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A970F-4B7D-0681-68D5-5EBB96F1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5" y="172122"/>
            <a:ext cx="5067151" cy="1357878"/>
          </a:xfrm>
        </p:spPr>
        <p:txBody>
          <a:bodyPr vert="horz" wrap="square" lIns="0" tIns="0" rIns="0" bIns="0" rtlCol="0" anchor="t">
            <a:noAutofit/>
          </a:bodyPr>
          <a:lstStyle/>
          <a:p>
            <a:pPr marL="0" marR="0">
              <a:spcAft>
                <a:spcPts val="100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Normality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model1 &lt;- lm(Calories_Burned ~ Workout_Type, data = data)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shapiro_test(residuals(model1))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ggqqplot(residuals(model1)) 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Shapiro-Wilk test and QQ plot used to assess normality of ANOVA residuals.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AFFA2B9E-4F25-9E44-740B-80F43433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16" b="18901"/>
          <a:stretch/>
        </p:blipFill>
        <p:spPr>
          <a:xfrm>
            <a:off x="0" y="2331369"/>
            <a:ext cx="5616000" cy="2195262"/>
          </a:xfrm>
          <a:custGeom>
            <a:avLst/>
            <a:gdLst/>
            <a:ahLst/>
            <a:cxnLst/>
            <a:rect l="l" t="t" r="r" b="b"/>
            <a:pathLst>
              <a:path w="4726800" h="2195262">
                <a:moveTo>
                  <a:pt x="0" y="0"/>
                </a:moveTo>
                <a:lnTo>
                  <a:pt x="4726800" y="0"/>
                </a:lnTo>
                <a:lnTo>
                  <a:pt x="4726800" y="2195262"/>
                </a:lnTo>
                <a:lnTo>
                  <a:pt x="0" y="2195262"/>
                </a:lnTo>
                <a:close/>
              </a:path>
            </a:pathLst>
          </a:cu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60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8A6B21-93D2-4D1B-87E2-CA6CF87F7739}"/>
              </a:ext>
            </a:extLst>
          </p:cNvPr>
          <p:cNvSpPr txBox="1"/>
          <p:nvPr/>
        </p:nvSpPr>
        <p:spPr>
          <a:xfrm>
            <a:off x="6094800" y="323999"/>
            <a:ext cx="5184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marR="0">
              <a:lnSpc>
                <a:spcPct val="140000"/>
              </a:lnSpc>
              <a:spcAft>
                <a:spcPts val="1000"/>
              </a:spcAft>
            </a:pPr>
            <a:r>
              <a:rPr lang="en-US" b="1">
                <a:solidFill>
                  <a:schemeClr val="tx2">
                    <a:alpha val="5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Output:</a:t>
            </a:r>
            <a:endParaRPr lang="en-US" b="1">
              <a:solidFill>
                <a:schemeClr val="tx2">
                  <a:alpha val="5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448056">
              <a:lnSpc>
                <a:spcPct val="140000"/>
              </a:lnSpc>
              <a:spcAft>
                <a:spcPts val="1000"/>
              </a:spcAft>
              <a:buClr>
                <a:schemeClr val="accent1"/>
              </a:buClr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p-value from the Shapiro-Wilk test is less than 0.05, suggesting the residuals are not perfectly normal.</a:t>
            </a:r>
          </a:p>
          <a:p>
            <a:pPr marL="285750" marR="0" indent="-448056">
              <a:lnSpc>
                <a:spcPct val="140000"/>
              </a:lnSpc>
              <a:spcAft>
                <a:spcPts val="1000"/>
              </a:spcAft>
              <a:buClr>
                <a:schemeClr val="accent1"/>
              </a:buClr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However, the QQ plot shows that the residuals align reasonably well with the theoretical normal line, so the assumption is approximately met, and we can proceed with caution.</a:t>
            </a:r>
          </a:p>
        </p:txBody>
      </p:sp>
      <p:pic>
        <p:nvPicPr>
          <p:cNvPr id="9" name="Content Placeholder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835DCAD-B405-156A-93CE-23DC5CD6A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9" y="4526632"/>
            <a:ext cx="7860097" cy="2310330"/>
          </a:xfrm>
        </p:spPr>
      </p:pic>
    </p:spTree>
    <p:extLst>
      <p:ext uri="{BB962C8B-B14F-4D97-AF65-F5344CB8AC3E}">
        <p14:creationId xmlns:p14="http://schemas.microsoft.com/office/powerpoint/2010/main" val="130880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1039A9-A7A7-4D5B-B18A-E21060151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A257A-D007-43E4-592F-E713DF4C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6634800" cy="2954655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0" marR="0">
              <a:spcAft>
                <a:spcPts val="1000"/>
              </a:spcAft>
            </a:pPr>
            <a:r>
              <a:rPr lang="en-US" sz="3000" b="1">
                <a:effectLst/>
              </a:rPr>
              <a:t># Levene's Test</a:t>
            </a:r>
            <a:br>
              <a:rPr lang="en-US" sz="3000">
                <a:effectLst/>
              </a:rPr>
            </a:br>
            <a:r>
              <a:rPr lang="en-US" sz="3000">
                <a:effectLst/>
              </a:rPr>
              <a:t>data %&gt;% levene_test(Calories_Burned ~ Workout_Type) </a:t>
            </a:r>
            <a:br>
              <a:rPr lang="en-US" sz="3000">
                <a:effectLst/>
              </a:rPr>
            </a:br>
            <a:br>
              <a:rPr lang="en-US" sz="3000">
                <a:effectLst/>
              </a:rPr>
            </a:br>
            <a:r>
              <a:rPr lang="en-US" sz="3000">
                <a:effectLst/>
              </a:rPr>
              <a:t>Levene’s test used to check for homogeneity of variance. p = 0.789.</a:t>
            </a:r>
            <a:br>
              <a:rPr lang="en-US" sz="3000">
                <a:effectLst/>
              </a:rPr>
            </a:br>
            <a:endParaRPr lang="en-US" sz="30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81C3D7-BEBA-2D81-E0F4-66F99EC75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999" y="4137102"/>
            <a:ext cx="6634800" cy="17913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6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64D4F0-1F40-017F-6DAD-53B782B53690}"/>
              </a:ext>
            </a:extLst>
          </p:cNvPr>
          <p:cNvSpPr txBox="1"/>
          <p:nvPr/>
        </p:nvSpPr>
        <p:spPr>
          <a:xfrm>
            <a:off x="7966800" y="323999"/>
            <a:ext cx="3312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marR="0" lvl="0">
              <a:lnSpc>
                <a:spcPct val="140000"/>
              </a:lnSpc>
            </a:pPr>
            <a:r>
              <a:rPr lang="en-US" b="1">
                <a:solidFill>
                  <a:schemeClr val="tx2">
                    <a:alpha val="55000"/>
                  </a:schemeClr>
                </a:solidFill>
              </a:rPr>
              <a:t>Summary  Output:</a:t>
            </a: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R="0" lvl="0" indent="-448056">
              <a:lnSpc>
                <a:spcPct val="140000"/>
              </a:lnSpc>
              <a:buFont typeface="Calibri Light" panose="020F0302020204030204" pitchFamily="34" charset="0"/>
              <a:buChar char="→"/>
            </a:pPr>
            <a:endParaRPr lang="en-US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342900" marR="0" lvl="0" indent="-448056">
              <a:lnSpc>
                <a:spcPct val="140000"/>
              </a:lnSpc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p &gt; 0.05 → Variances are equal across groups.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Assumption of homogeneity of variances is met.</a:t>
            </a:r>
          </a:p>
        </p:txBody>
      </p:sp>
    </p:spTree>
    <p:extLst>
      <p:ext uri="{BB962C8B-B14F-4D97-AF65-F5344CB8AC3E}">
        <p14:creationId xmlns:p14="http://schemas.microsoft.com/office/powerpoint/2010/main" val="41213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3E06024-E3D1-4A51-9DED-9805C7A51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DD042-BB48-5DA9-6E39-E48F1EDB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6634800" cy="2903675"/>
          </a:xfrm>
        </p:spPr>
        <p:txBody>
          <a:bodyPr vert="horz"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b="1" dirty="0">
                <a:effectLst/>
              </a:rPr>
              <a:t># ANOVA and Post-hoc</a:t>
            </a: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anova1 &lt;- anova_test(data = data, dv = Calories_Burned, between = Workout_Type)</a:t>
            </a: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pwc1 &lt;- data %&gt;% tukey_hsd(Calories_Burned ~ Workout_Type)</a:t>
            </a:r>
            <a:br>
              <a:rPr lang="en-US" sz="1600" dirty="0">
                <a:effectLst/>
              </a:rPr>
            </a:b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ANOVA test showed no significant difference (p = 0.416). Post-hoc Tukey’s test showed no significant pairwise differences.</a:t>
            </a:r>
            <a:r>
              <a:rPr lang="en-US" sz="1600" dirty="0"/>
              <a:t> Though not needed to test.</a:t>
            </a:r>
            <a:br>
              <a:rPr lang="en-US" sz="1600" dirty="0">
                <a:effectLst/>
              </a:rPr>
            </a:br>
            <a:br>
              <a:rPr lang="en-US" sz="1600" dirty="0">
                <a:effectLst/>
              </a:rPr>
            </a:br>
            <a:br>
              <a:rPr lang="en-US" sz="1600" dirty="0">
                <a:effectLst/>
              </a:rPr>
            </a:br>
            <a:r>
              <a:rPr lang="en-US" sz="1600" dirty="0">
                <a:effectLst/>
              </a:rPr>
              <a:t> </a:t>
            </a:r>
            <a:br>
              <a:rPr lang="en-US" sz="1600" dirty="0">
                <a:effectLst/>
              </a:rPr>
            </a:br>
            <a:endParaRPr lang="en-US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6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853C4CA-EB52-CACE-C46D-49B87770EF2A}"/>
              </a:ext>
            </a:extLst>
          </p:cNvPr>
          <p:cNvSpPr txBox="1"/>
          <p:nvPr/>
        </p:nvSpPr>
        <p:spPr>
          <a:xfrm>
            <a:off x="7966800" y="323999"/>
            <a:ext cx="3312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marR="0">
              <a:lnSpc>
                <a:spcPct val="140000"/>
              </a:lnSpc>
              <a:spcBef>
                <a:spcPts val="1000"/>
              </a:spcBef>
            </a:pPr>
            <a:r>
              <a:rPr lang="en-US" sz="1700" b="1" dirty="0">
                <a:solidFill>
                  <a:schemeClr val="tx2">
                    <a:alpha val="55000"/>
                  </a:schemeClr>
                </a:solidFill>
                <a:effectLst/>
              </a:rPr>
              <a:t>Output Summary:</a:t>
            </a:r>
          </a:p>
          <a:p>
            <a:pPr marL="0" marR="0" indent="-448056">
              <a:lnSpc>
                <a:spcPct val="14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sz="1700" b="1" dirty="0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0" marR="0" indent="-448056">
              <a:lnSpc>
                <a:spcPct val="14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ANOVA Table: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F(3, 969) = 0.949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p = 0.416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ges = 0.003</a:t>
            </a:r>
            <a:b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</a:b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→ Not statistically significant (p &gt; 0.05)</a:t>
            </a:r>
          </a:p>
          <a:p>
            <a:pPr marL="0" marR="0" indent="-448056">
              <a:lnSpc>
                <a:spcPct val="140000"/>
              </a:lnSpc>
              <a:spcAft>
                <a:spcPts val="1000"/>
              </a:spcAft>
              <a:buFont typeface="Calibri Light" panose="020F0302020204030204" pitchFamily="34" charset="0"/>
              <a:buChar char="→"/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Tukey’s Post-Hoc Comparison:</a:t>
            </a:r>
          </a:p>
          <a:p>
            <a:pPr marL="342900" marR="0" lvl="0" indent="-448056">
              <a:lnSpc>
                <a:spcPct val="14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All pairwise comparisons show p.adj &gt; 0.05 → Not significant</a:t>
            </a:r>
            <a:b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</a:br>
            <a:r>
              <a:rPr lang="en-US" sz="1700" dirty="0">
                <a:solidFill>
                  <a:schemeClr val="tx2">
                    <a:alpha val="55000"/>
                  </a:schemeClr>
                </a:solidFill>
                <a:effectLst/>
              </a:rPr>
              <a:t>→ Confirms no meaningful differences between any workout types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02A36-840A-6A32-A9FA-D48D3A7A2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5837"/>
            <a:ext cx="7527590" cy="4774520"/>
          </a:xfrm>
        </p:spPr>
      </p:pic>
    </p:spTree>
    <p:extLst>
      <p:ext uri="{BB962C8B-B14F-4D97-AF65-F5344CB8AC3E}">
        <p14:creationId xmlns:p14="http://schemas.microsoft.com/office/powerpoint/2010/main" val="225659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2795-0E87-0FC7-FD70-F6F660F2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ANOVA Test 2 – </a:t>
            </a:r>
            <a:r>
              <a:rPr lang="en-US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Fat % by Workout Frequency</a:t>
            </a:r>
            <a:r>
              <a:rPr lang="en-US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694C0-A979-F434-E96A-8711603F9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1" y="852698"/>
            <a:ext cx="10638158" cy="1869237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# Descriptive statistics</a:t>
            </a:r>
            <a:b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data %&gt;%</a:t>
            </a:r>
            <a:b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group_by(Workout_Frequency..days.week.) %&gt;%</a:t>
            </a:r>
            <a:b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ourier New" panose="02070309020205020404" pitchFamily="49" charset="0"/>
                <a:ea typeface="MS Mincho" panose="02020609040205080304" pitchFamily="49" charset="-128"/>
                <a:cs typeface="Times New Roman" panose="02020603050405020304" pitchFamily="18" charset="0"/>
              </a:rPr>
              <a:t>  get_summary_stats(Fat_Percentage, type = "mean_sd")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Displays the mean and standard deviation of fat percentage by workout frequency.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54EE25-5648-0B54-0980-33E7A6D7E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21934"/>
            <a:ext cx="7063409" cy="4136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CE61BA-4CD4-16E0-511A-D4A2805D7D4A}"/>
              </a:ext>
            </a:extLst>
          </p:cNvPr>
          <p:cNvSpPr txBox="1"/>
          <p:nvPr/>
        </p:nvSpPr>
        <p:spPr>
          <a:xfrm>
            <a:off x="7280822" y="2423292"/>
            <a:ext cx="4911178" cy="429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1600" b="1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Output Summary:</a:t>
            </a:r>
          </a:p>
          <a:p>
            <a:pPr marR="0"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endParaRPr lang="en-US" sz="120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average fat percentage decreases with increased workout frequency.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2–3 days/week: ~27.5% body fat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 days/week: ~23.7%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10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 days/week: ~14.7%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standard deviation is slightly higher for 4 days/week, suggesting more variability in that group.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6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descriptive summary suggests that working out more frequently may be associated with lower body fat.</a:t>
            </a:r>
            <a:endParaRPr lang="en-US" sz="160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84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E06024-E3D1-4A51-9DED-9805C7A51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15EF8-1E2C-0FC0-3996-5FDFBCEA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6634800" cy="2193671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0" marR="0">
              <a:spcAft>
                <a:spcPts val="1000"/>
              </a:spcAft>
            </a:pPr>
            <a:r>
              <a:rPr lang="en-US" sz="2100" b="1" dirty="0">
                <a:effectLst/>
              </a:rPr>
              <a:t># Boxplot</a:t>
            </a:r>
            <a:br>
              <a:rPr lang="en-US" sz="2100" dirty="0">
                <a:effectLst/>
              </a:rPr>
            </a:b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ggboxplot(data, x = "Workout_Frequency..days.week.", y = "Fat_Percentage", fill = "orchid")</a:t>
            </a:r>
            <a:br>
              <a:rPr lang="en-US" sz="2100" dirty="0">
                <a:effectLst/>
              </a:rPr>
            </a:br>
            <a:br>
              <a:rPr lang="en-US" sz="2100" dirty="0">
                <a:effectLst/>
              </a:rPr>
            </a:br>
            <a:r>
              <a:rPr lang="en-US" sz="2100" dirty="0">
                <a:effectLst/>
              </a:rPr>
              <a:t>Boxplot of fat percentage grouped by workout frequency.</a:t>
            </a:r>
            <a:br>
              <a:rPr lang="en-US" sz="2100" dirty="0">
                <a:effectLst/>
              </a:rPr>
            </a:br>
            <a:endParaRPr lang="en-US" sz="2100" dirty="0"/>
          </a:p>
        </p:txBody>
      </p:sp>
      <p:pic>
        <p:nvPicPr>
          <p:cNvPr id="4" name="Content Placeholder 3" descr="A graph showing a diagram&#10;&#10;AI-generated content may be incorrect.">
            <a:extLst>
              <a:ext uri="{FF2B5EF4-FFF2-40B4-BE49-F238E27FC236}">
                <a16:creationId xmlns:a16="http://schemas.microsoft.com/office/drawing/2014/main" id="{60AF6E61-D21B-D503-83EF-B4AEE532D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985" b="24242"/>
          <a:stretch/>
        </p:blipFill>
        <p:spPr>
          <a:xfrm>
            <a:off x="449999" y="2420471"/>
            <a:ext cx="6634800" cy="399832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6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D6D961-ECCF-711F-900D-0A037FED2FE5}"/>
              </a:ext>
            </a:extLst>
          </p:cNvPr>
          <p:cNvSpPr txBox="1"/>
          <p:nvPr/>
        </p:nvSpPr>
        <p:spPr>
          <a:xfrm>
            <a:off x="7966800" y="323999"/>
            <a:ext cx="3312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500" b="1">
                <a:solidFill>
                  <a:schemeClr val="tx2">
                    <a:alpha val="55000"/>
                  </a:schemeClr>
                </a:solidFill>
                <a:effectLst/>
              </a:rPr>
              <a:t>Output Summary:</a:t>
            </a:r>
          </a:p>
          <a:p>
            <a:pPr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endParaRPr lang="en-US" sz="1500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342900"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500">
                <a:solidFill>
                  <a:schemeClr val="tx2">
                    <a:alpha val="55000"/>
                  </a:schemeClr>
                </a:solidFill>
                <a:effectLst/>
              </a:rPr>
              <a:t>Median body fat percentage decreases as workout frequency increases.</a:t>
            </a:r>
          </a:p>
          <a:p>
            <a:pPr marL="742950" marR="0" lvl="1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914400" algn="l"/>
              </a:tabLst>
            </a:pPr>
            <a:r>
              <a:rPr lang="en-US" sz="1500">
                <a:solidFill>
                  <a:schemeClr val="tx2">
                    <a:alpha val="55000"/>
                  </a:schemeClr>
                </a:solidFill>
                <a:effectLst/>
              </a:rPr>
              <a:t>The lowest median is observed in those who work out 5 days/week.</a:t>
            </a:r>
          </a:p>
          <a:p>
            <a:pPr marL="342900"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500">
                <a:solidFill>
                  <a:schemeClr val="tx2">
                    <a:alpha val="55000"/>
                  </a:schemeClr>
                </a:solidFill>
                <a:effectLst/>
              </a:rPr>
              <a:t>The spread (IQR) for 4 days/week is wider, indicating more variability.</a:t>
            </a:r>
          </a:p>
          <a:p>
            <a:pPr marL="342900"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500">
                <a:solidFill>
                  <a:schemeClr val="tx2">
                    <a:alpha val="55000"/>
                  </a:schemeClr>
                </a:solidFill>
                <a:effectLst/>
              </a:rPr>
              <a:t>Outliers are minimal, suggesting that most data fall within a consistent range.</a:t>
            </a:r>
          </a:p>
          <a:p>
            <a:pPr marL="342900"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 sz="1500">
                <a:solidFill>
                  <a:schemeClr val="tx2">
                    <a:alpha val="55000"/>
                  </a:schemeClr>
                </a:solidFill>
                <a:effectLst/>
              </a:rPr>
              <a:t>This visual reinforces the idea that higher workout frequency may lead to lower body fat.</a:t>
            </a:r>
          </a:p>
        </p:txBody>
      </p:sp>
    </p:spTree>
    <p:extLst>
      <p:ext uri="{BB962C8B-B14F-4D97-AF65-F5344CB8AC3E}">
        <p14:creationId xmlns:p14="http://schemas.microsoft.com/office/powerpoint/2010/main" val="1574748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99859F-F366-4AF3-B2CF-491BC512B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686E2-06A0-097F-F0DE-7BAFED5D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4694400" cy="2826000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300" b="1" dirty="0">
                <a:effectLst/>
              </a:rPr>
              <a:t># Outliers &amp; Normality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data %&gt;%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group_by(Workout_Frequency..days.week.) %&gt;%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  identify_outliers(Fat_Percentage)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model2 &lt;- lm(Fat_Percentage ~ Workout_Frequency..days.week., data = data)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shapiro_test(residuals(model2))</a:t>
            </a: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ggqqplot(residuals(model2))  </a:t>
            </a:r>
            <a:br>
              <a:rPr lang="en-US" sz="1300" dirty="0">
                <a:effectLst/>
              </a:rPr>
            </a:br>
            <a:br>
              <a:rPr lang="en-US" sz="1300" dirty="0">
                <a:effectLst/>
              </a:rPr>
            </a:br>
            <a:r>
              <a:rPr lang="en-US" sz="1300" dirty="0">
                <a:effectLst/>
              </a:rPr>
              <a:t>No extreme outliers found. Normality tested with Shapiro-Wilk and QQ plot.</a:t>
            </a:r>
            <a:br>
              <a:rPr lang="en-US" sz="1300" dirty="0">
                <a:effectLst/>
              </a:rPr>
            </a:br>
            <a:br>
              <a:rPr lang="en-US" sz="1300" dirty="0">
                <a:effectLst/>
              </a:rPr>
            </a:br>
            <a:br>
              <a:rPr lang="en-US" sz="1300" dirty="0">
                <a:effectLst/>
              </a:rPr>
            </a:br>
            <a:endParaRPr lang="en-US" sz="13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6000" y="450000"/>
            <a:ext cx="0" cy="2764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D19944E-D27C-D484-C193-8AFA8D37293A}"/>
              </a:ext>
            </a:extLst>
          </p:cNvPr>
          <p:cNvSpPr txBox="1"/>
          <p:nvPr/>
        </p:nvSpPr>
        <p:spPr>
          <a:xfrm>
            <a:off x="6094799" y="323998"/>
            <a:ext cx="5824631" cy="2750987"/>
          </a:xfrm>
          <a:prstGeom prst="rect">
            <a:avLst/>
          </a:prstGeom>
        </p:spPr>
        <p:txBody>
          <a:bodyPr vert="horz" wrap="square" lIns="0" tIns="0" rIns="91440" bIns="0" rtlCol="0">
            <a:normAutofit/>
          </a:bodyPr>
          <a:lstStyle/>
          <a:p>
            <a:pPr indent="-448056">
              <a:lnSpc>
                <a:spcPct val="130000"/>
              </a:lnSpc>
              <a:spcAft>
                <a:spcPts val="600"/>
              </a:spcAft>
              <a:buFont typeface="Calibri Light" panose="020F0302020204030204" pitchFamily="34" charset="0"/>
              <a:buChar char="→"/>
            </a:pPr>
            <a:r>
              <a:rPr lang="en-US" sz="1400" dirty="0">
                <a:solidFill>
                  <a:schemeClr val="tx2">
                    <a:alpha val="55000"/>
                  </a:schemeClr>
                </a:solidFill>
              </a:rPr>
              <a:t>Output Summary</a:t>
            </a:r>
          </a:p>
          <a:p>
            <a:pPr indent="-448056">
              <a:lnSpc>
                <a:spcPct val="130000"/>
              </a:lnSpc>
              <a:spcAft>
                <a:spcPts val="600"/>
              </a:spcAft>
              <a:buFont typeface="Calibri Light" panose="020F0302020204030204" pitchFamily="34" charset="0"/>
              <a:buChar char="→"/>
            </a:pPr>
            <a:endParaRPr lang="en-US" sz="1400" b="1" dirty="0">
              <a:solidFill>
                <a:schemeClr val="tx2">
                  <a:alpha val="55000"/>
                </a:schemeClr>
              </a:solidFill>
            </a:endParaRPr>
          </a:p>
          <a:p>
            <a:pPr marL="285750" indent="-448056">
              <a:lnSpc>
                <a:spcPct val="130000"/>
              </a:lnSpc>
              <a:spcAft>
                <a:spcPts val="600"/>
              </a:spcAft>
              <a:buFont typeface="Calibri Light" panose="020F0302020204030204" pitchFamily="34" charset="0"/>
              <a:buChar char="→"/>
            </a:pPr>
            <a:r>
              <a:rPr lang="en-US" sz="1400" dirty="0">
                <a:solidFill>
                  <a:schemeClr val="tx2">
                    <a:alpha val="55000"/>
                  </a:schemeClr>
                </a:solidFill>
              </a:rPr>
              <a:t>Outliers Check: No extreme outliers were found for fat percentage across workout frequencies.</a:t>
            </a:r>
          </a:p>
          <a:p>
            <a:pPr marL="285750" indent="-448056">
              <a:lnSpc>
                <a:spcPct val="130000"/>
              </a:lnSpc>
              <a:spcAft>
                <a:spcPts val="600"/>
              </a:spcAft>
              <a:buFont typeface="Calibri Light" panose="020F0302020204030204" pitchFamily="34" charset="0"/>
              <a:buChar char="→"/>
            </a:pPr>
            <a:r>
              <a:rPr lang="en-US" sz="1400" dirty="0">
                <a:solidFill>
                  <a:schemeClr val="tx2">
                    <a:alpha val="55000"/>
                  </a:schemeClr>
                </a:solidFill>
              </a:rPr>
              <a:t>Normality Test (Shapiro-Wilk): The p-value was &lt; 0.001, indicating the residuals are not normally distributed.</a:t>
            </a:r>
          </a:p>
          <a:p>
            <a:pPr marL="285750" indent="-448056">
              <a:lnSpc>
                <a:spcPct val="130000"/>
              </a:lnSpc>
              <a:spcAft>
                <a:spcPts val="600"/>
              </a:spcAft>
              <a:buFont typeface="Calibri Light" panose="020F0302020204030204" pitchFamily="34" charset="0"/>
              <a:buChar char="→"/>
            </a:pPr>
            <a:r>
              <a:rPr lang="en-US" sz="1400" dirty="0">
                <a:solidFill>
                  <a:schemeClr val="tx2">
                    <a:alpha val="55000"/>
                  </a:schemeClr>
                </a:solidFill>
              </a:rPr>
              <a:t>QQ Plot: Despite the low p-value, the data points follow the trend line fairly -well, suggesting that normality is approximately met visually.</a:t>
            </a:r>
          </a:p>
        </p:txBody>
      </p:sp>
      <p:pic>
        <p:nvPicPr>
          <p:cNvPr id="5" name="Picture 4" descr="A graph showing a curve&#10;&#10;AI-generated content may be incorrect.">
            <a:extLst>
              <a:ext uri="{FF2B5EF4-FFF2-40B4-BE49-F238E27FC236}">
                <a16:creationId xmlns:a16="http://schemas.microsoft.com/office/drawing/2014/main" id="{6147F76E-7AD8-784C-44BA-C12AC98444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1" b="24854"/>
          <a:stretch/>
        </p:blipFill>
        <p:spPr>
          <a:xfrm>
            <a:off x="5500911" y="3074987"/>
            <a:ext cx="6418544" cy="3783011"/>
          </a:xfrm>
          <a:custGeom>
            <a:avLst/>
            <a:gdLst/>
            <a:ahLst/>
            <a:cxnLst/>
            <a:rect l="l" t="t" r="r" b="b"/>
            <a:pathLst>
              <a:path w="7374013" h="2772000">
                <a:moveTo>
                  <a:pt x="0" y="0"/>
                </a:moveTo>
                <a:lnTo>
                  <a:pt x="7374013" y="0"/>
                </a:lnTo>
                <a:lnTo>
                  <a:pt x="7374013" y="2772000"/>
                </a:lnTo>
                <a:lnTo>
                  <a:pt x="0" y="2772000"/>
                </a:lnTo>
                <a:close/>
              </a:path>
            </a:pathLst>
          </a:custGeom>
        </p:spPr>
      </p:pic>
      <p:pic>
        <p:nvPicPr>
          <p:cNvPr id="9" name="Content Placeholder 8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094CAA2-4B0D-7EF3-B4EA-230DC8287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4988"/>
            <a:ext cx="5500910" cy="3783012"/>
          </a:xfrm>
        </p:spPr>
      </p:pic>
    </p:spTree>
    <p:extLst>
      <p:ext uri="{BB962C8B-B14F-4D97-AF65-F5344CB8AC3E}">
        <p14:creationId xmlns:p14="http://schemas.microsoft.com/office/powerpoint/2010/main" val="1098840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22D150-F252-4A09-955E-35C814DE7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EE590-A1CB-3C92-E9B7-2D631384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226800"/>
            <a:ext cx="5183998" cy="3312466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 sz="1600" b="1">
                <a:effectLst/>
              </a:rPr>
              <a:t># Levene's Test</a:t>
            </a:r>
            <a:br>
              <a:rPr lang="en-US" sz="1600" b="1">
                <a:effectLst/>
              </a:rPr>
            </a:br>
            <a:br>
              <a:rPr lang="en-US" sz="1600">
                <a:effectLst/>
              </a:rPr>
            </a:br>
            <a:r>
              <a:rPr lang="en-US" sz="1600">
                <a:effectLst/>
              </a:rPr>
              <a:t>data$Workout_Freq_Factor &lt;- as.factor(data$Workout_Frequency..days.week.)</a:t>
            </a:r>
            <a:br>
              <a:rPr lang="en-US" sz="1600">
                <a:effectLst/>
              </a:rPr>
            </a:br>
            <a:r>
              <a:rPr lang="en-US" sz="1600">
                <a:effectLst/>
              </a:rPr>
              <a:t>data %&gt;% levene_test(Fat_Percentage ~ Workout_Freq_Factor) </a:t>
            </a:r>
            <a:br>
              <a:rPr lang="en-US" sz="1600">
                <a:effectLst/>
              </a:rPr>
            </a:br>
            <a:br>
              <a:rPr lang="en-US" sz="1600">
                <a:effectLst/>
              </a:rPr>
            </a:br>
            <a:r>
              <a:rPr lang="en-US" sz="1600">
                <a:effectLst/>
              </a:rPr>
              <a:t>Levene’s test showed p &lt; 0.001, indicating variance inequality. Proceeded with caution.</a:t>
            </a:r>
            <a:br>
              <a:rPr lang="en-US" sz="1600">
                <a:effectLst/>
              </a:rPr>
            </a:br>
            <a:br>
              <a:rPr lang="en-US" sz="1600">
                <a:effectLst/>
              </a:rPr>
            </a:br>
            <a:endParaRPr lang="en-US" sz="160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8419C96-742E-3315-9AA6-73C166885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932" b="-4"/>
          <a:stretch/>
        </p:blipFill>
        <p:spPr>
          <a:xfrm>
            <a:off x="449998" y="2441986"/>
            <a:ext cx="5068671" cy="397681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935FD8-9F2E-4F15-8ED9-1C692DA6F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6000" y="450000"/>
            <a:ext cx="0" cy="59652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A5172E-CCFB-8E6E-C771-C715F4E9A865}"/>
              </a:ext>
            </a:extLst>
          </p:cNvPr>
          <p:cNvSpPr txBox="1"/>
          <p:nvPr/>
        </p:nvSpPr>
        <p:spPr>
          <a:xfrm>
            <a:off x="6094800" y="323999"/>
            <a:ext cx="5184000" cy="6091200"/>
          </a:xfrm>
          <a:prstGeom prst="rect">
            <a:avLst/>
          </a:prstGeom>
        </p:spPr>
        <p:txBody>
          <a:bodyPr vert="horz" wrap="square" lIns="0" tIns="0" rIns="91440" bIns="0" rtlCol="0">
            <a:normAutofit lnSpcReduction="10000"/>
          </a:bodyPr>
          <a:lstStyle/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 b="1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r>
              <a:rPr lang="en-US" b="1">
                <a:solidFill>
                  <a:schemeClr val="tx2">
                    <a:alpha val="55000"/>
                  </a:schemeClr>
                </a:solidFill>
                <a:effectLst/>
              </a:rPr>
              <a:t>Normality and Homogeneity of Variance Check</a:t>
            </a:r>
          </a:p>
          <a:p>
            <a:pPr marL="0" marR="0" indent="-448056">
              <a:lnSpc>
                <a:spcPct val="130000"/>
              </a:lnSpc>
              <a:spcBef>
                <a:spcPts val="1000"/>
              </a:spcBef>
              <a:buFont typeface="Calibri Light" panose="020F0302020204030204" pitchFamily="34" charset="0"/>
              <a:buChar char="→"/>
            </a:pPr>
            <a:endParaRPr lang="en-US">
              <a:solidFill>
                <a:schemeClr val="tx2">
                  <a:alpha val="55000"/>
                </a:schemeClr>
              </a:solidFill>
              <a:effectLst/>
            </a:endParaRPr>
          </a:p>
          <a:p>
            <a:pPr marL="342900" marR="0" lvl="0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4572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Levene’s Test (Homogeneity of Variance):</a:t>
            </a:r>
          </a:p>
          <a:p>
            <a:pPr marL="742950" marR="0" lvl="1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9144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p-value = 7.27e-30 → This is far less than 0.05, meaning equal variances cannot be assumed.</a:t>
            </a:r>
          </a:p>
          <a:p>
            <a:pPr marL="742950" marR="0" lvl="1" indent="-448056">
              <a:lnSpc>
                <a:spcPct val="130000"/>
              </a:lnSpc>
              <a:spcAft>
                <a:spcPts val="1000"/>
              </a:spcAft>
              <a:buSzPts val="1000"/>
              <a:buFont typeface="Calibri Light" panose="020F0302020204030204" pitchFamily="34" charset="0"/>
              <a:buChar char="→"/>
              <a:tabLst>
                <a:tab pos="914400" algn="l"/>
              </a:tabLst>
            </a:pPr>
            <a:r>
              <a:rPr lang="en-US">
                <a:solidFill>
                  <a:schemeClr val="tx2">
                    <a:alpha val="55000"/>
                  </a:schemeClr>
                </a:solidFill>
                <a:effectLst/>
              </a:rPr>
              <a:t>This violates the ANOVA assumption of homogeneity.</a:t>
            </a:r>
          </a:p>
        </p:txBody>
      </p:sp>
    </p:spTree>
    <p:extLst>
      <p:ext uri="{BB962C8B-B14F-4D97-AF65-F5344CB8AC3E}">
        <p14:creationId xmlns:p14="http://schemas.microsoft.com/office/powerpoint/2010/main" val="1800261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C8BC-00A3-6D50-5410-129071EF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7" y="91088"/>
            <a:ext cx="11949506" cy="1644112"/>
          </a:xfrm>
        </p:spPr>
        <p:txBody>
          <a:bodyPr>
            <a:normAutofit fontScale="90000"/>
          </a:bodyPr>
          <a:lstStyle/>
          <a:p>
            <a:r>
              <a:rPr lang="en-US" sz="1800" b="1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# ANOVA and Post-hoc</a:t>
            </a:r>
            <a:b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anova2 &lt;- anova_test(data = data, dv = Fat_Percentage, between = Workout_Frequency..days.week.)</a:t>
            </a:r>
            <a:b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pwc2 &lt;- data %&gt;% tukey_hsd(Fat_Percentage ~ Workout_Freq_Factor) </a:t>
            </a:r>
            <a:b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i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ANOVA found significant differences (p &lt; 0.001). Tukey’s test revealed pairwise differences in fat percentage based on workout frequency.</a:t>
            </a:r>
            <a:br>
              <a:rPr lang="en-US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1800" i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i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BB0C2E-5AA1-825E-A0FC-98B879202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25905"/>
            <a:ext cx="6612835" cy="4832095"/>
          </a:xfrm>
          <a:prstGeom prst="rect">
            <a:avLst/>
          </a:prstGeom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D9B04F7-26FD-62E5-8115-32E53091CE8D}"/>
              </a:ext>
            </a:extLst>
          </p:cNvPr>
          <p:cNvGraphicFramePr/>
          <p:nvPr/>
        </p:nvGraphicFramePr>
        <p:xfrm>
          <a:off x="6698513" y="2602140"/>
          <a:ext cx="5369440" cy="3282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011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C4AC91-30B8-4B0B-A187-C39F1913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86AD4-9CEE-D727-EB2D-48B3F828C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0"/>
            <a:ext cx="11301984" cy="1250370"/>
          </a:xfrm>
        </p:spPr>
        <p:txBody>
          <a:bodyPr anchor="b"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Conclusion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ANOVA Results: Calories Burned vs. Fat Percentage</a:t>
            </a:r>
            <a:b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3FE3F6-2B23-4E4E-AA49-C212646DC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9400" y="16092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A69582-B374-FD3E-F453-2E13F03A5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215985"/>
              </p:ext>
            </p:extLst>
          </p:nvPr>
        </p:nvGraphicFramePr>
        <p:xfrm>
          <a:off x="450000" y="946679"/>
          <a:ext cx="11293475" cy="5723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7476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CB5C8-9BF3-BA3C-9DB5-D6A565D8272A}"/>
              </a:ext>
            </a:extLst>
          </p:cNvPr>
          <p:cNvSpPr txBox="1"/>
          <p:nvPr/>
        </p:nvSpPr>
        <p:spPr>
          <a:xfrm>
            <a:off x="737809" y="508000"/>
            <a:ext cx="10958285" cy="483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r>
              <a:rPr lang="en-US" sz="2000" b="1" dirty="0">
                <a:solidFill>
                  <a:schemeClr val="tx2"/>
                </a:solidFill>
                <a:ea typeface="Source Sans Pro"/>
              </a:rPr>
              <a:t>Multiple Regression test research question:</a:t>
            </a:r>
            <a:endParaRPr lang="en-US" sz="2000" dirty="0">
              <a:solidFill>
                <a:schemeClr val="tx2"/>
              </a:solidFill>
              <a:ea typeface="Source Sans Pro"/>
            </a:endParaRP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r>
              <a:rPr lang="en-US" dirty="0">
                <a:solidFill>
                  <a:srgbClr val="FFC000"/>
                </a:solidFill>
                <a:ea typeface="Source Sans Pro"/>
              </a:rPr>
              <a:t>What predictors most significantly affect the session duration of people at the gym?</a:t>
            </a:r>
            <a:endParaRPr lang="en-US" dirty="0">
              <a:ea typeface="Source Sans Pro"/>
            </a:endParaRP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endParaRPr lang="en-US" dirty="0">
              <a:ea typeface="Source Sans Pro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The method and all predictors used:</a:t>
            </a: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Method: Multiple Linear Regression Test.</a:t>
            </a: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endParaRPr lang="en-US" dirty="0">
              <a:ea typeface="Source Sans Pro"/>
            </a:endParaRP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All Predictors: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"Age"             "Gender"         "Weight_kg"         "Height"           "Max_BPM"          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 "Avg_BPM"      "Resting_BPM"      "Session_Duration"  "Calories_Burned"  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"Workout_Type"       "Fat_Percentage"     "Water_Intake"     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"Workout_Frequency"   "Experience_Level"    "BMI"  </a:t>
            </a:r>
          </a:p>
        </p:txBody>
      </p:sp>
    </p:spTree>
    <p:extLst>
      <p:ext uri="{BB962C8B-B14F-4D97-AF65-F5344CB8AC3E}">
        <p14:creationId xmlns:p14="http://schemas.microsoft.com/office/powerpoint/2010/main" val="642104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99AC95-9FC1-42BD-A490-2EDBABE7C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73836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B7C41E-331D-62C6-8753-8BFF9FE7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974" y="81"/>
            <a:ext cx="5299027" cy="68378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A90A84-A656-C0DD-5073-B4944F1A9877}"/>
              </a:ext>
            </a:extLst>
          </p:cNvPr>
          <p:cNvSpPr txBox="1"/>
          <p:nvPr/>
        </p:nvSpPr>
        <p:spPr>
          <a:xfrm>
            <a:off x="332618" y="881138"/>
            <a:ext cx="6603999" cy="53901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2200" b="1" dirty="0">
                <a:solidFill>
                  <a:schemeClr val="tx2"/>
                </a:solidFill>
                <a:ea typeface="Source Sans Pro"/>
              </a:rPr>
              <a:t>Regression equation, model summary table</a:t>
            </a:r>
            <a:endParaRPr lang="en-US" sz="2200" dirty="0">
              <a:solidFill>
                <a:schemeClr val="tx2"/>
              </a:solidFill>
              <a:ea typeface="Source Sans Pro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endParaRPr lang="en-US" sz="1700" dirty="0">
              <a:ea typeface="Source Sans Pro"/>
            </a:endParaRPr>
          </a:p>
          <a:p>
            <a:r>
              <a:rPr lang="en-US" sz="1700" b="1" dirty="0">
                <a:solidFill>
                  <a:schemeClr val="tx2"/>
                </a:solidFill>
                <a:ea typeface="Source Sans Pro"/>
              </a:rPr>
              <a:t>Regression Equation:</a:t>
            </a:r>
          </a:p>
          <a:p>
            <a:pPr marL="285750" indent="-285750">
              <a:buFont typeface="Arial,Sans-Serif"/>
              <a:buChar char="•"/>
            </a:pPr>
            <a:endParaRPr lang="en-US" sz="1700" dirty="0">
              <a:ea typeface="Source Sans Pro"/>
            </a:endParaRPr>
          </a:p>
          <a:p>
            <a:r>
              <a:rPr lang="en-US" sz="1700" dirty="0">
                <a:solidFill>
                  <a:schemeClr val="tx2"/>
                </a:solidFill>
                <a:ea typeface="Source Sans Pro"/>
              </a:rPr>
              <a:t> Session_Duration = 1.415 + .004*Age -.1*GenderMale -.0016*Weight_kg -.16*Height -.000027*Max_BPM</a:t>
            </a:r>
          </a:p>
          <a:p>
            <a:r>
              <a:rPr lang="en-US" sz="1700" dirty="0">
                <a:solidFill>
                  <a:schemeClr val="tx2"/>
                </a:solidFill>
                <a:ea typeface="Source Sans Pro"/>
              </a:rPr>
              <a:t>-.00813*Avg_BPM -.00059*Resting_BPM + .0013*Calories_Burned +.003*Workout_TypeHITT +.004*Workout_TypeStrength</a:t>
            </a:r>
          </a:p>
          <a:p>
            <a:r>
              <a:rPr lang="en-US" sz="1700" dirty="0">
                <a:solidFill>
                  <a:schemeClr val="tx2"/>
                </a:solidFill>
                <a:ea typeface="Source Sans Pro"/>
              </a:rPr>
              <a:t>+.0087*WorkoutTypeYoga +.00085*Fat_Percentage + .002*Water_Intake + .00446*Workout_Frequency3 + .00039*Workout_Frequency4</a:t>
            </a:r>
          </a:p>
          <a:p>
            <a:r>
              <a:rPr lang="en-US" sz="1700" dirty="0">
                <a:solidFill>
                  <a:schemeClr val="tx2"/>
                </a:solidFill>
                <a:ea typeface="Source Sans Pro"/>
              </a:rPr>
              <a:t>-.0083*Workout_Frequency5 + .015*Experience_Level2 + .06*Experience_Level3 - .0054*BMI.</a:t>
            </a:r>
          </a:p>
          <a:p>
            <a:pPr marL="285750" indent="-447675">
              <a:lnSpc>
                <a:spcPct val="130000"/>
              </a:lnSpc>
              <a:spcAft>
                <a:spcPts val="600"/>
              </a:spcAft>
              <a:buFont typeface="Calibri Light,Sans-Serif"/>
              <a:buChar char="→"/>
            </a:pPr>
            <a:endParaRPr lang="en-US" sz="1700" dirty="0">
              <a:ea typeface="Source Sans Pro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700" dirty="0">
                <a:solidFill>
                  <a:schemeClr val="tx2"/>
                </a:solidFill>
                <a:ea typeface="Source Sans Pro"/>
              </a:rPr>
              <a:t>F-stat &amp; R: F-stat(19, 953) = </a:t>
            </a:r>
            <a:r>
              <a:rPr lang="en-US" sz="1700" dirty="0">
                <a:solidFill>
                  <a:srgbClr val="FFFF00"/>
                </a:solidFill>
                <a:ea typeface="Source Sans Pro"/>
              </a:rPr>
              <a:t>2054 </a:t>
            </a:r>
            <a:r>
              <a:rPr lang="en-US" sz="1700" dirty="0">
                <a:solidFill>
                  <a:schemeClr val="tx2"/>
                </a:solidFill>
                <a:ea typeface="Source Sans Pro"/>
              </a:rPr>
              <a:t>&amp; Required = .</a:t>
            </a:r>
            <a:r>
              <a:rPr lang="en-US" sz="1700" dirty="0">
                <a:solidFill>
                  <a:srgbClr val="FFFF00"/>
                </a:solidFill>
                <a:ea typeface="Source Sans Pro"/>
              </a:rPr>
              <a:t>9757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sz="1700" dirty="0">
                <a:solidFill>
                  <a:srgbClr val="FF0000"/>
                </a:solidFill>
                <a:ea typeface="+mn-lt"/>
                <a:cs typeface="+mn-lt"/>
              </a:rPr>
              <a:t>All 14 predictors combined explain 97.57% of variance in Session_Duration.</a:t>
            </a:r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616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29A7-7D76-7E83-CB63-379030F21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26" y="3429707"/>
            <a:ext cx="11293200" cy="3336699"/>
          </a:xfrm>
        </p:spPr>
        <p:txBody>
          <a:bodyPr vert="horz" wrap="square" lIns="0" tIns="0" rIns="91440" bIns="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ea typeface="Source Sans Pro"/>
              </a:rPr>
              <a:t>        Interaction terms and their R² and 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FFFFFF"/>
                </a:solidFill>
                <a:ea typeface="Source Sans Pro"/>
              </a:rPr>
              <a:t> First Interaction Terms used: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FFFF00"/>
                </a:solidFill>
                <a:ea typeface="Source Sans Pro"/>
              </a:rPr>
              <a:t>BMI &amp; Resting_BPM on Session_Duration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449580" indent="-447675"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# The regression model shows that neither of BMI and Resting_BPM have any relationship with Session_Duration.</a:t>
            </a: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449580" indent="-447675"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# There is no significant interaction effect between Resting_BPM and BMI on Session_Duration (p-value = .17)</a:t>
            </a: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449580" indent="-447675"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# F(3, 969)=.7, p-value = .54 Adjusted R-Squared = -.088%</a:t>
            </a: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AutoNum type="alphaLcPeriod"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rgbClr val="FFFFFF"/>
              </a:solidFill>
              <a:ea typeface="Source Sans Pro"/>
            </a:endParaRPr>
          </a:p>
        </p:txBody>
      </p:sp>
      <p:pic>
        <p:nvPicPr>
          <p:cNvPr id="2" name="Picture 1" descr="A close-up of a number&#10;&#10;AI-generated content may be incorrect.">
            <a:extLst>
              <a:ext uri="{FF2B5EF4-FFF2-40B4-BE49-F238E27FC236}">
                <a16:creationId xmlns:a16="http://schemas.microsoft.com/office/drawing/2014/main" id="{2FFF34DB-BF39-0D71-E78A-8465CCCE5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378278"/>
            <a:ext cx="6395358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56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406347-7742-6C93-15CB-5C629FED0A05}"/>
              </a:ext>
            </a:extLst>
          </p:cNvPr>
          <p:cNvSpPr txBox="1"/>
          <p:nvPr/>
        </p:nvSpPr>
        <p:spPr>
          <a:xfrm>
            <a:off x="86481" y="3116339"/>
            <a:ext cx="11374361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Source Sans Pro"/>
              </a:rPr>
              <a:t>Second Interaction Terms used:</a:t>
            </a:r>
          </a:p>
          <a:p>
            <a:r>
              <a:rPr lang="en-US" dirty="0">
                <a:solidFill>
                  <a:srgbClr val="FFFF00"/>
                </a:solidFill>
                <a:ea typeface="Source Sans Pro"/>
              </a:rPr>
              <a:t>Calories_Burned &amp; Height on Session_Duration</a:t>
            </a:r>
          </a:p>
          <a:p>
            <a:endParaRPr lang="en-US" dirty="0">
              <a:ea typeface="Source Sans Pro"/>
            </a:endParaRPr>
          </a:p>
          <a:p>
            <a:r>
              <a:rPr lang="en-US" dirty="0">
                <a:ea typeface="+mn-lt"/>
                <a:cs typeface="+mn-lt"/>
              </a:rPr>
              <a:t>lmi2.fit = lm(Session_Duration~Calories_Burned*Height, data = gym)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summary(lmi2.fit)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# Height doesn't have relation with Session_Duration however Calories_Burned does with(0.0001&lt;p-value). </a:t>
            </a:r>
            <a:endParaRPr lang="en-US" dirty="0"/>
          </a:p>
          <a:p>
            <a:endParaRPr lang="en-US" dirty="0">
              <a:ea typeface="Source Sans Pro"/>
            </a:endParaRPr>
          </a:p>
          <a:p>
            <a:r>
              <a:rPr lang="en-US" dirty="0">
                <a:ea typeface="+mn-lt"/>
                <a:cs typeface="+mn-lt"/>
              </a:rPr>
              <a:t># There is no significant interaction effect between Height and Calories_Burned on Session_Duration. p-value = .13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# Together Adjusted r squared is .8325 and F-statistic: (3, 969)=1611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#  p &lt;0.0001. 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The model explains 83.25% of variance in Session_Duration.</a:t>
            </a:r>
            <a:endParaRPr lang="en-US" dirty="0">
              <a:solidFill>
                <a:srgbClr val="FF0000"/>
              </a:solidFill>
              <a:ea typeface="Source Sans Pro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1876F8F-86D8-5175-6D9D-8C47A9AFC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66" y="129267"/>
            <a:ext cx="7856766" cy="299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30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D86DADD-940E-4CC1-AF60-0D36FB29B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76FFB-FFBF-6ACB-2FBD-559A7BD3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56" y="-335100"/>
            <a:ext cx="7413244" cy="860400"/>
          </a:xfrm>
        </p:spPr>
        <p:txBody>
          <a:bodyPr anchor="b">
            <a:normAutofit/>
          </a:bodyPr>
          <a:lstStyle/>
          <a:p>
            <a:r>
              <a:rPr lang="en-US" sz="2600" b="1" i="0">
                <a:ea typeface="Source Sans Pro Light"/>
              </a:rPr>
              <a:t>2nd Model with significant predictors: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5434694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ABED-62FF-A58B-C0AF-A8C4C41D1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14" y="1693628"/>
            <a:ext cx="6172271" cy="4883100"/>
          </a:xfrm>
        </p:spPr>
        <p:txBody>
          <a:bodyPr vert="horz" wrap="square" lIns="0" tIns="0" rIns="91440" bIns="0" rtlCol="0" anchor="t">
            <a:normAutofit fontScale="92500" lnSpcReduction="20000"/>
          </a:bodyPr>
          <a:lstStyle/>
          <a:p>
            <a:pPr marL="1905" indent="0">
              <a:buNone/>
            </a:pPr>
            <a:endParaRPr lang="en-US" dirty="0">
              <a:solidFill>
                <a:schemeClr val="tx2"/>
              </a:solidFill>
              <a:ea typeface="+mn-lt"/>
              <a:cs typeface="+mn-lt"/>
            </a:endParaRPr>
          </a:p>
          <a:p>
            <a:pPr marL="1905" indent="0">
              <a:buNone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F-stat &amp; R: </a:t>
            </a:r>
          </a:p>
          <a:p>
            <a:pPr marL="1905" indent="0">
              <a:buNone/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F statistics (10, 962) = </a:t>
            </a:r>
            <a:r>
              <a:rPr lang="en-US" dirty="0">
                <a:solidFill>
                  <a:srgbClr val="FFFF00"/>
                </a:solidFill>
                <a:ea typeface="Source Sans Pro"/>
              </a:rPr>
              <a:t>3906</a:t>
            </a:r>
          </a:p>
          <a:p>
            <a:pPr marL="1905" indent="0">
              <a:buNone/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Adjusted R-squared = .</a:t>
            </a:r>
            <a:r>
              <a:rPr lang="en-US" dirty="0">
                <a:solidFill>
                  <a:srgbClr val="FFFF00"/>
                </a:solidFill>
                <a:ea typeface="Source Sans Pro"/>
              </a:rPr>
              <a:t>975</a:t>
            </a:r>
          </a:p>
          <a:p>
            <a:pPr marL="1905" indent="0">
              <a:buNone/>
            </a:pPr>
            <a:r>
              <a:rPr lang="en-US" dirty="0">
                <a:solidFill>
                  <a:srgbClr val="FF0000"/>
                </a:solidFill>
                <a:ea typeface="Source Sans Pro"/>
              </a:rPr>
              <a:t>All significant predictors combined explain 97.57% of variance in Session_Duration.</a:t>
            </a:r>
            <a:endParaRPr lang="en-US" dirty="0"/>
          </a:p>
          <a:p>
            <a:pPr marL="1905" indent="0">
              <a:buNone/>
            </a:pPr>
            <a:endParaRPr lang="en-US" dirty="0">
              <a:solidFill>
                <a:schemeClr val="tx2"/>
              </a:solidFill>
              <a:ea typeface="Source Sans Pro"/>
            </a:endParaRPr>
          </a:p>
          <a:p>
            <a:pPr marL="1905" indent="0">
              <a:buNone/>
            </a:pPr>
            <a:r>
              <a:rPr lang="en-US" u="sng" dirty="0">
                <a:solidFill>
                  <a:schemeClr val="tx2"/>
                </a:solidFill>
                <a:ea typeface="Source Sans Pro"/>
              </a:rPr>
              <a:t>Equation</a:t>
            </a:r>
            <a:r>
              <a:rPr lang="en-US" dirty="0">
                <a:solidFill>
                  <a:schemeClr val="tx2"/>
                </a:solidFill>
                <a:ea typeface="Source Sans Pro"/>
              </a:rPr>
              <a:t>:  </a:t>
            </a:r>
          </a:p>
          <a:p>
            <a:pPr marL="1905" indent="0">
              <a:buNone/>
            </a:pPr>
            <a:r>
              <a:rPr lang="en-US" dirty="0">
                <a:solidFill>
                  <a:schemeClr val="tx2"/>
                </a:solidFill>
                <a:ea typeface="Source Sans Pro"/>
              </a:rPr>
              <a:t>Session_Duration = 1.449 -.0055*BMI + .-15*Experience_Level2 + .045*Experience_Level3 + .0013*Calories_Burned -.00059*Resting_BPM -.008*Avg_BPM -.16*Height +.0016*Weight_kg -.1*GenderMale +.0044*Age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026B0C-9802-F675-549D-8AFAD6DD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837" y="842485"/>
            <a:ext cx="5789622" cy="503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458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C3FE8-4B0D-F6AE-68F9-EC708842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07" y="-640"/>
            <a:ext cx="11293200" cy="3783013"/>
          </a:xfrm>
        </p:spPr>
        <p:txBody>
          <a:bodyPr vert="horz" wrap="square" lIns="0" tIns="0" rIns="91440" bIns="0" rtlCol="0" anchor="t">
            <a:normAutofit/>
          </a:bodyPr>
          <a:lstStyle/>
          <a:p>
            <a:pPr marL="1905" indent="0">
              <a:buNone/>
            </a:pPr>
            <a:r>
              <a:rPr lang="en-US">
                <a:solidFill>
                  <a:srgbClr val="FFFFFF">
                    <a:alpha val="55000"/>
                  </a:srgbClr>
                </a:solidFill>
                <a:ea typeface="Source Sans Pro"/>
              </a:rPr>
              <a:t>Model 2 diagnostics.</a:t>
            </a:r>
          </a:p>
          <a:p>
            <a:pPr marL="1905" indent="0">
              <a:buNone/>
            </a:pPr>
            <a:endParaRPr lang="en-US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>
              <a:solidFill>
                <a:srgbClr val="FFFFFF">
                  <a:alpha val="55000"/>
                </a:srgbClr>
              </a:solidFill>
              <a:ea typeface="Source Sans Pro"/>
            </a:endParaRPr>
          </a:p>
        </p:txBody>
      </p:sp>
      <p:pic>
        <p:nvPicPr>
          <p:cNvPr id="2" name="Picture 1" descr="A group of black and white graphs&#10;&#10;AI-generated content may be incorrect.">
            <a:extLst>
              <a:ext uri="{FF2B5EF4-FFF2-40B4-BE49-F238E27FC236}">
                <a16:creationId xmlns:a16="http://schemas.microsoft.com/office/drawing/2014/main" id="{8114529F-0CF0-CABC-1A18-344AB0F6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13" y="551805"/>
            <a:ext cx="9996535" cy="37249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183120-35EA-939B-2A1E-58D808FABABC}"/>
              </a:ext>
            </a:extLst>
          </p:cNvPr>
          <p:cNvSpPr txBox="1"/>
          <p:nvPr/>
        </p:nvSpPr>
        <p:spPr>
          <a:xfrm>
            <a:off x="387047" y="4692952"/>
            <a:ext cx="875634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Source Sans Pro"/>
              </a:rPr>
              <a:t>Scale-Location plot shows the the realtionship is linear because red line is close to horizontal.</a:t>
            </a:r>
          </a:p>
          <a:p>
            <a:r>
              <a:rPr lang="en-US">
                <a:ea typeface="Source Sans Pro"/>
              </a:rPr>
              <a:t>Q-Q plots shows the data is normally distributed because the data points don't deviate from reference line.</a:t>
            </a:r>
          </a:p>
          <a:p>
            <a:r>
              <a:rPr lang="en-US">
                <a:ea typeface="Source Sans Pro"/>
              </a:rPr>
              <a:t>The red residual line is not curved in residuals vs Fitted plot, so data is linear.</a:t>
            </a:r>
          </a:p>
          <a:p>
            <a:r>
              <a:rPr lang="en-US">
                <a:ea typeface="Source Sans Pro"/>
              </a:rPr>
              <a:t>Some data points are influential, but there are fewer outliers.</a:t>
            </a:r>
          </a:p>
          <a:p>
            <a:endParaRPr lang="en-US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921901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E07C-E0C0-B94D-FB97-885338BC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42" y="9815"/>
            <a:ext cx="11265987" cy="6961641"/>
          </a:xfrm>
        </p:spPr>
        <p:txBody>
          <a:bodyPr vert="horz" wrap="square" lIns="0" tIns="0" rIns="9144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Prediction outputs with confidence &amp; prediction intervals for session duration with calories burned.</a:t>
            </a:r>
            <a:endParaRPr lang="en-US" b="1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00"/>
                </a:solidFill>
                <a:ea typeface="Source Sans Pro"/>
              </a:rPr>
              <a:t>What would be the 95% confidence interval for </a:t>
            </a:r>
            <a:r>
              <a:rPr lang="en-US" sz="2000" dirty="0" err="1">
                <a:solidFill>
                  <a:srgbClr val="FFFF00"/>
                </a:solidFill>
                <a:ea typeface="Source Sans Pro"/>
              </a:rPr>
              <a:t>session_duration</a:t>
            </a:r>
            <a:r>
              <a:rPr lang="en-US" sz="2000" dirty="0">
                <a:solidFill>
                  <a:srgbClr val="FFFF00"/>
                </a:solidFill>
                <a:ea typeface="Source Sans Pro"/>
              </a:rPr>
              <a:t> with calorie burned of 800?</a:t>
            </a:r>
          </a:p>
          <a:p>
            <a:pPr marL="0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0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449580" indent="-447675">
              <a:buNone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The predicted Session_Duration with Calories_Burned of 800 is 1.135 hours.</a:t>
            </a:r>
            <a:endParaRPr lang="en-US" dirty="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buNone/>
            </a:pPr>
            <a:endParaRPr lang="en-US" dirty="0">
              <a:solidFill>
                <a:schemeClr val="tx2"/>
              </a:solidFill>
              <a:ea typeface="+mn-lt"/>
              <a:cs typeface="+mn-lt"/>
            </a:endParaRPr>
          </a:p>
          <a:p>
            <a:pPr marL="449580" indent="-447675">
              <a:buNone/>
            </a:pPr>
            <a:endParaRPr lang="en-US" dirty="0">
              <a:solidFill>
                <a:schemeClr val="tx2"/>
              </a:solidFill>
              <a:ea typeface="+mn-lt"/>
              <a:cs typeface="+mn-lt"/>
            </a:endParaRPr>
          </a:p>
          <a:p>
            <a:pPr marL="449580" indent="-447675">
              <a:buNone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We are 95% confident that the Session_Duration of a gym goer with Calories_Burned of 800 is between (.85, 1.418)hours. (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Prediction Interval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)</a:t>
            </a:r>
            <a:endParaRPr lang="en-US" dirty="0">
              <a:solidFill>
                <a:schemeClr val="tx2"/>
              </a:solidFill>
              <a:ea typeface="Source Sans Pro"/>
            </a:endParaRPr>
          </a:p>
          <a:p>
            <a:pPr marL="449580" indent="-447675">
              <a:buNone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 We are 95% confident that the average Session_Duration of all people with Calories_Burned of 800 is between (1.126, 1.146) hours. (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Confidence Interval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)</a:t>
            </a:r>
            <a:endParaRPr lang="en-US" dirty="0">
              <a:solidFill>
                <a:schemeClr val="tx2"/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chemeClr val="tx2"/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</p:txBody>
      </p:sp>
      <p:pic>
        <p:nvPicPr>
          <p:cNvPr id="4" name="Picture 3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06973A4F-5622-9E92-F359-98743DA0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9" y="1443718"/>
            <a:ext cx="112585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20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D6D41-3C1A-43B8-A86C-2C97CF98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1" y="1724315"/>
            <a:ext cx="12080789" cy="3793898"/>
          </a:xfrm>
        </p:spPr>
        <p:txBody>
          <a:bodyPr vert="horz" wrap="square" lIns="0" tIns="0" rIns="91440" bIns="0" rtlCol="0" anchor="t">
            <a:normAutofit/>
          </a:bodyPr>
          <a:lstStyle/>
          <a:p>
            <a:pPr marL="1905" indent="0">
              <a:buNone/>
            </a:pPr>
            <a:r>
              <a:rPr lang="en-US" b="1" i="1" dirty="0">
                <a:solidFill>
                  <a:schemeClr val="tx2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For decision making:</a:t>
            </a:r>
          </a:p>
          <a:p>
            <a:pPr marL="1905" indent="0">
              <a:buNone/>
            </a:pPr>
            <a:endParaRPr lang="en-US" b="1" i="1" dirty="0">
              <a:solidFill>
                <a:schemeClr val="tx2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</a:endParaRPr>
          </a:p>
          <a:p>
            <a:pPr marL="516255" indent="-514350">
              <a:buFont typeface="+mj-lt"/>
              <a:buAutoNum type="romanUcPeriod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The gym goers and owners can utilize this information for their benefits.</a:t>
            </a:r>
          </a:p>
          <a:p>
            <a:pPr marL="516255" indent="-514350">
              <a:buFont typeface="+mj-lt"/>
              <a:buAutoNum type="romanUcPeriod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</a:rPr>
              <a:t>Trainers can identify factors that reduce gym session duration and adjust training plans to encourage longer workouts.</a:t>
            </a:r>
          </a:p>
          <a:p>
            <a:pPr marL="516294" indent="-514350">
              <a:buFont typeface="+mj-lt"/>
              <a:buAutoNum type="romanUcPeriod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Gym owners can use this information to target customer groups that tend to spend more time at the gym.</a:t>
            </a:r>
          </a:p>
          <a:p>
            <a:endParaRPr lang="en-US" sz="2400" dirty="0"/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  <a:p>
            <a:pPr marL="1905" indent="0">
              <a:buNone/>
            </a:pPr>
            <a:endParaRPr lang="en-US" dirty="0">
              <a:solidFill>
                <a:srgbClr val="FFFFFF">
                  <a:alpha val="55000"/>
                </a:srgbClr>
              </a:solidFill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627669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CFC294A-7FF8-4114-B0AD-F3B7F15EF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52F38-BEA5-D9D5-7A83-16AB5371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26800"/>
            <a:ext cx="11301984" cy="984885"/>
          </a:xfrm>
        </p:spPr>
        <p:txBody>
          <a:bodyPr>
            <a:normAutofit/>
          </a:bodyPr>
          <a:lstStyle/>
          <a:p>
            <a:r>
              <a:rPr lang="en-US" sz="50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🧠 Lessons Learned &amp; Recommendation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3FE3F6-2B23-4E4E-AA49-C212646DC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9400" y="16092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E85CE98-C54A-930D-46B7-F725BA8C01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841925"/>
              </p:ext>
            </p:extLst>
          </p:nvPr>
        </p:nvGraphicFramePr>
        <p:xfrm>
          <a:off x="450000" y="2059200"/>
          <a:ext cx="11293475" cy="3783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148340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2846</Words>
  <Application>Microsoft Macintosh PowerPoint</Application>
  <PresentationFormat>Widescreen</PresentationFormat>
  <Paragraphs>242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Aptos</vt:lpstr>
      <vt:lpstr>Arial</vt:lpstr>
      <vt:lpstr>Arial,Sans-Serif</vt:lpstr>
      <vt:lpstr>Calibri Light</vt:lpstr>
      <vt:lpstr>Calibri Light,Sans-Serif</vt:lpstr>
      <vt:lpstr>Cambria</vt:lpstr>
      <vt:lpstr>Courier New</vt:lpstr>
      <vt:lpstr>Segoe UI</vt:lpstr>
      <vt:lpstr>Source Sans Pro</vt:lpstr>
      <vt:lpstr>Source Sans Pro Light</vt:lpstr>
      <vt:lpstr>Symbol</vt:lpstr>
      <vt:lpstr>Times</vt:lpstr>
      <vt:lpstr>Times New Roman</vt:lpstr>
      <vt:lpstr>ThinLineVTI</vt:lpstr>
      <vt:lpstr>CIS 328</vt:lpstr>
      <vt:lpstr> Project Introduction &amp; Dataset Overview</vt:lpstr>
      <vt:lpstr>Dataset Description</vt:lpstr>
      <vt:lpstr>Summary Statistics</vt:lpstr>
      <vt:lpstr>Research Questions</vt:lpstr>
      <vt:lpstr>R Code and Slide Content for Presentation - (ANOVA Testing) ANOVA Test 1 – Calories Burned by Workout Type  </vt:lpstr>
      <vt:lpstr># Boxplot ggboxplot(data, x = "Workout_Type", y = "Calories_Burned", fill = "skyblue")  Boxplot showing distribution of calories burned by workout type.  Outlier detection within each workout group. Most were not extreme. </vt:lpstr>
      <vt:lpstr># Outliers  data %&gt;%   group_by(Workout_Type) %&gt;%   identify_outliers(Calories_Burned).   Outliers may reflect higher individual performance or reporting variation </vt:lpstr>
      <vt:lpstr># Normality model1 &lt;- lm(Calories_Burned ~ Workout_Type, data = data) shapiro_test(residuals(model1)) ggqqplot(residuals(model1))   Shapiro-Wilk test and QQ plot used to assess normality of ANOVA residuals. </vt:lpstr>
      <vt:lpstr># Levene's Test data %&gt;% levene_test(Calories_Burned ~ Workout_Type)   Levene’s test used to check for homogeneity of variance. p = 0.789. </vt:lpstr>
      <vt:lpstr># ANOVA and Post-hoc anova1 &lt;- anova_test(data = data, dv = Calories_Burned, between = Workout_Type) pwc1 &lt;- data %&gt;% tukey_hsd(Calories_Burned ~ Workout_Type)  ANOVA test showed no significant difference (p = 0.416). Post-hoc Tukey’s test showed no significant pairwise differences. Though not needed to test.     </vt:lpstr>
      <vt:lpstr>ANOVA Test 2 – Fat % by Workout Frequency </vt:lpstr>
      <vt:lpstr># Boxplot  ggboxplot(data, x = "Workout_Frequency..days.week.", y = "Fat_Percentage", fill = "orchid")  Boxplot of fat percentage grouped by workout frequency. </vt:lpstr>
      <vt:lpstr># Outliers &amp; Normality data %&gt;%   group_by(Workout_Frequency..days.week.) %&gt;%   identify_outliers(Fat_Percentage) model2 &lt;- lm(Fat_Percentage ~ Workout_Frequency..days.week., data = data) shapiro_test(residuals(model2)) ggqqplot(residuals(model2))    No extreme outliers found. Normality tested with Shapiro-Wilk and QQ plot.   </vt:lpstr>
      <vt:lpstr># Levene's Test  data$Workout_Freq_Factor &lt;- as.factor(data$Workout_Frequency..days.week.) data %&gt;% levene_test(Fat_Percentage ~ Workout_Freq_Factor)   Levene’s test showed p &lt; 0.001, indicating variance inequality. Proceeded with caution.  </vt:lpstr>
      <vt:lpstr># ANOVA and Post-hoc  anova2 &lt;- anova_test(data = data, dv = Fat_Percentage, between = Workout_Frequency..days.week.) pwc2 &lt;- data %&gt;% tukey_hsd(Fat_Percentage ~ Workout_Freq_Factor)   ANOVA found significant differences (p &lt; 0.001). Tukey’s test revealed pairwise differences in fat percentage based on workout frequency.  </vt:lpstr>
      <vt:lpstr>Anova Conclusion Comparison of ANOVA Results: Calories Burned vs. Fat Percentage </vt:lpstr>
      <vt:lpstr>PowerPoint Presentation</vt:lpstr>
      <vt:lpstr>PowerPoint Presentation</vt:lpstr>
      <vt:lpstr>PowerPoint Presentation</vt:lpstr>
      <vt:lpstr>PowerPoint Presentation</vt:lpstr>
      <vt:lpstr>2nd Model with significant predictors:</vt:lpstr>
      <vt:lpstr>PowerPoint Presentation</vt:lpstr>
      <vt:lpstr>PowerPoint Presentation</vt:lpstr>
      <vt:lpstr>PowerPoint Presentation</vt:lpstr>
      <vt:lpstr>🧠 Lessons Learned &amp;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 C, Niranjan</cp:lastModifiedBy>
  <cp:revision>22</cp:revision>
  <dcterms:created xsi:type="dcterms:W3CDTF">2025-05-06T16:59:13Z</dcterms:created>
  <dcterms:modified xsi:type="dcterms:W3CDTF">2026-03-18T00:16:12Z</dcterms:modified>
</cp:coreProperties>
</file>